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0562039-4d3c-6e44-a3e1-ac7fa15de7da}">
          <p14:sldIdLst>
            <p14:sldId id="256"/>
            <p14:sldId id="257"/>
          </p14:sldIdLst>
        </p14:section>
        <p14:section name="Method" id="{506ac5b4-6e68-e2fe-2ca6-e301668567c9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Results" id="{6c102ff0-88d8-ee51-1325-efc29e2fec5c}">
          <p14:sldIdLst>
            <p14:sldId id="266"/>
            <p14:sldId id="267"/>
            <p14:sldId id="268"/>
          </p14:sldIdLst>
        </p14:section>
        <p14:section name="Close" id="{a98e9f1f-b110-3830-cfa0-482124de47a9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rgbClr val="3D6A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Raw snapshot</c:v>
                  </c:pt>
                  <c:pt idx="1">
                    <c:v>Closed or operating</c:v>
                  </c:pt>
                  <c:pt idx="2">
                    <c:v>Eligible at 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66368</c:v>
                </c:pt>
                <c:pt idx="1">
                  <c:v>59272</c:v>
                </c:pt>
                <c:pt idx="2">
                  <c:v>22075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7A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3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333"/>
                </a:solidFill>
                <a:latin typeface="+mn-lt"/>
              </a:rPr>
              <a:t>Audit of 100 random accepted headlines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Headlines</c:v>
                </c:pt>
              </c:strCache>
            </c:strRef>
          </c:tx>
          <c:spPr>
            <a:solidFill>
              <a:srgbClr val="1F9E7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9E7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B3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2574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About the company</c:v>
                  </c:pt>
                  <c:pt idx="1">
                    <c:v>Mentions its platform</c:v>
                  </c:pt>
                  <c:pt idx="2">
                    <c:v>Different entity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</c:v>
                </c:pt>
                <c:pt idx="1">
                  <c:v>38</c:v>
                </c:pt>
                <c:pt idx="2">
                  <c:v>33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7A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3D6A8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Original features</c:v>
                  </c:pt>
                  <c:pt idx="1">
                    <c:v>Leak-free features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0.7241</c:v>
                </c:pt>
                <c:pt idx="1">
                  <c:v>0.6792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Linear SVM</c:v>
                </c:pt>
              </c:strCache>
            </c:strRef>
          </c:tx>
          <c:spPr>
            <a:solidFill>
              <a:srgbClr val="5B4B8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Original features</c:v>
                  </c:pt>
                  <c:pt idx="1">
                    <c:v>Leak-free features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0.727</c:v>
                </c:pt>
                <c:pt idx="1">
                  <c:v>0.6794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B2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.5"/>
        </c:scaling>
        <c:delete val="0"/>
        <c:axPos val="l"/>
        <c:majorGridlines>
          <c:spPr>
            <a:ln w="6350" cap="flat">
              <a:solidFill>
                <a:srgbClr val="D9DE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7A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B2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3D6A8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Leak-free</c:v>
                  </c:pt>
                  <c:pt idx="1">
                    <c:v>+ Coverage</c:v>
                  </c:pt>
                  <c:pt idx="2">
                    <c:v>+ Sentiment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0.6394</c:v>
                </c:pt>
                <c:pt idx="1">
                  <c:v>0.6388</c:v>
                </c:pt>
                <c:pt idx="2">
                  <c:v>0.6504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Linear SVM</c:v>
                </c:pt>
              </c:strCache>
            </c:strRef>
          </c:tx>
          <c:spPr>
            <a:solidFill>
              <a:srgbClr val="5B4B8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Leak-free</c:v>
                  </c:pt>
                  <c:pt idx="1">
                    <c:v>+ Coverage</c:v>
                  </c:pt>
                  <c:pt idx="2">
                    <c:v>+ Sentiment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0.6246</c:v>
                </c:pt>
                <c:pt idx="1">
                  <c:v>0.6252</c:v>
                </c:pt>
                <c:pt idx="2">
                  <c:v>0.6337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B2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.5"/>
        </c:scaling>
        <c:delete val="0"/>
        <c:axPos val="l"/>
        <c:majorGridlines>
          <c:spPr>
            <a:ln w="6350" cap="flat">
              <a:solidFill>
                <a:srgbClr val="D9DE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7A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B2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question: does what the news says about a startup help predict whether it survives, beyond its structured data? Everything runs on the course's Big Data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conclusion first. One: we found a leak worth 0.044 AUC and removed it. Two: the honest leak-free baseline is 0.679. Three: news tone adds about 0.01 AUC with both models, borderline significant. Volume adds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Labels date from about 2014. News collected today would contain the answer, so one cutoff, January 1 2013, governs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Acquired and IPO are excluded because an acquisition can be success or failure. Founded and first funded before the cutoff leaves 22,075 startups, 13% closed.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technology maps to a real stage. Spark and Hive read the same HDFS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news APIs can't reach 2013, so we used Google News RSS. Rate limits meant we couldn't query all 22,075 startups, so we sampled closed and operating startups 1:1. AUC doesn't depend on class balance.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Matching is the hardest part. After three fixes, a hand audit still shows only 29% of matched headlines are company news; 38% are things like crimes on Craigslist. This limits what sentiment can show.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from immutable sets, foldLeft and pattern matching. Be upfront that most headlines are neutral, which limits the tone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Coverage tracks funding, because famous companies get news. Separating volume from tone stops a 'famous startups survive' effect being mistaken for a sentiment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 is useless with 87% operating, so AUC is primary. Balanced class weights come from training data only. We first tuned the threshold for F1, saw it degenerate on the balanced cohort, and switched to balanced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22,075 startups, 5-fold CV. Raise this before the examiner does: we found it ourselves from the coefficients and measured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815-startup balanced cohort, 5-fold CV, paired bootstrap. Volume adds nothing. Tone adds about 0.01 for both models. Call it borderline, suggestive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limits compound: few startups have news, most matched news isn't about the company, and most headlines are neutral. A large effect was never possible, which is why the result is suggestive rather than conclusive.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limitation has a matching next step. The infrastructure is in place; what's missing is cleaner and more plentiful news.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the whole stack works end to end and is tested; we removed a real leak; sentiment shows at most a small signal at this data quality; and the pipeline can answer the question better as data improves.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Startup Survival · Big Data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Does News Sentiment Predict Startup Survival?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 leakage-controlled experiment on 22,075 startups with HDFS, Hive, Scala, Spark RDDs and MLlib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B.Tech CSE · End-Semester Big Data Project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answer up front</a:t>
            </a:r>
            <a:endParaRPr lang="en-US" sz="2800" dirty="0"/>
          </a:p>
        </p:txBody>
      </p:sp>
      <p:sp>
        <p:nvSpPr>
          <p:cNvPr id="3" name="Card leakage"/>
          <p:cNvSpPr/>
          <p:nvPr/>
        </p:nvSpPr>
        <p:spPr>
          <a:xfrm>
            <a:off x="457200" y="1188720"/>
            <a:ext cx="26060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 baseline"/>
          <p:cNvSpPr/>
          <p:nvPr/>
        </p:nvSpPr>
        <p:spPr>
          <a:xfrm>
            <a:off x="3268980" y="1188720"/>
            <a:ext cx="26060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 tone"/>
          <p:cNvSpPr/>
          <p:nvPr/>
        </p:nvSpPr>
        <p:spPr>
          <a:xfrm>
            <a:off x="6080760" y="1188720"/>
            <a:ext cx="26060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tat leak number"/>
          <p:cNvSpPr txBox="1"/>
          <p:nvPr/>
        </p:nvSpPr>
        <p:spPr>
          <a:xfrm>
            <a:off x="685800" y="1371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−0.044</a:t>
            </a:r>
            <a:endParaRPr lang="en-US" sz="3200" dirty="0"/>
          </a:p>
        </p:txBody>
      </p:sp>
      <p:sp>
        <p:nvSpPr>
          <p:cNvPr id="7" name="Stat leak label"/>
          <p:cNvSpPr txBox="1"/>
          <p:nvPr/>
        </p:nvSpPr>
        <p:spPr>
          <a:xfrm>
            <a:off x="685800" y="20848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AUC that came from a leak we found and removed (p &lt; 0.001)</a:t>
            </a:r>
            <a:endParaRPr lang="en-US" sz="1200" dirty="0"/>
          </a:p>
        </p:txBody>
      </p:sp>
      <p:sp>
        <p:nvSpPr>
          <p:cNvPr id="8" name="Stat base number"/>
          <p:cNvSpPr txBox="1"/>
          <p:nvPr/>
        </p:nvSpPr>
        <p:spPr>
          <a:xfrm>
            <a:off x="3497580" y="1371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0.679</a:t>
            </a:r>
            <a:endParaRPr lang="en-US" sz="3200" dirty="0"/>
          </a:p>
        </p:txBody>
      </p:sp>
      <p:sp>
        <p:nvSpPr>
          <p:cNvPr id="9" name="Stat base label"/>
          <p:cNvSpPr txBox="1"/>
          <p:nvPr/>
        </p:nvSpPr>
        <p:spPr>
          <a:xfrm>
            <a:off x="3497580" y="20848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AUC from leak-free structural features, all 22,075 startups</a:t>
            </a:r>
            <a:endParaRPr lang="en-US" sz="1200" dirty="0"/>
          </a:p>
        </p:txBody>
      </p:sp>
      <p:sp>
        <p:nvSpPr>
          <p:cNvPr id="10" name="Stat tone number"/>
          <p:cNvSpPr txBox="1"/>
          <p:nvPr/>
        </p:nvSpPr>
        <p:spPr>
          <a:xfrm>
            <a:off x="6309360" y="1371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+0.010</a:t>
            </a:r>
            <a:endParaRPr lang="en-US" sz="3200" dirty="0"/>
          </a:p>
        </p:txBody>
      </p:sp>
      <p:sp>
        <p:nvSpPr>
          <p:cNvPr id="11" name="Stat tone label"/>
          <p:cNvSpPr txBox="1"/>
          <p:nvPr/>
        </p:nvSpPr>
        <p:spPr>
          <a:xfrm>
            <a:off x="6309360" y="20848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AUC from news tone: consistent but borderline (p = 0.047)</a:t>
            </a:r>
            <a:endParaRPr lang="en-US" sz="1200" dirty="0"/>
          </a:p>
        </p:txBody>
      </p:sp>
      <p:sp>
        <p:nvSpPr>
          <p:cNvPr id="12" name="Takeaway"/>
          <p:cNvSpPr txBox="1"/>
          <p:nvPr/>
        </p:nvSpPr>
        <p:spPr>
          <a:xfrm>
            <a:off x="457200" y="3337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News volume adds nothing, and news tone adds a little. The limit is data quality: 8.5% coverage and 29% matching precision.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core risk: information from the future</a:t>
            </a:r>
            <a:endParaRPr lang="en-US" sz="2800" dirty="0"/>
          </a:p>
        </p:txBody>
      </p:sp>
      <p:sp>
        <p:nvSpPr>
          <p:cNvPr id="3" name="Timeline axis"/>
          <p:cNvSpPr/>
          <p:nvPr/>
        </p:nvSpPr>
        <p:spPr>
          <a:xfrm>
            <a:off x="731520" y="2194560"/>
            <a:ext cx="7680960" cy="0"/>
          </a:xfrm>
          <a:prstGeom prst="line">
            <a:avLst/>
          </a:prstGeom>
          <a:noFill/>
          <a:ln w="25400">
            <a:solidFill>
              <a:srgbClr val="8A97A8"/>
            </a:solidFill>
            <a:prstDash val="solid"/>
          </a:ln>
        </p:spPr>
      </p:sp>
      <p:sp>
        <p:nvSpPr>
          <p:cNvPr id="4" name="Timeline dot 1"/>
          <p:cNvSpPr/>
          <p:nvPr/>
        </p:nvSpPr>
        <p:spPr>
          <a:xfrm>
            <a:off x="969264" y="2066544"/>
            <a:ext cx="256032" cy="25603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imeline year 1"/>
          <p:cNvSpPr txBox="1"/>
          <p:nvPr/>
        </p:nvSpPr>
        <p:spPr>
          <a:xfrm>
            <a:off x="365760" y="1417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2011</a:t>
            </a:r>
            <a:endParaRPr lang="en-US" sz="1600" dirty="0"/>
          </a:p>
        </p:txBody>
      </p:sp>
      <p:sp>
        <p:nvSpPr>
          <p:cNvPr id="6" name="Timeline label 1"/>
          <p:cNvSpPr txBox="1"/>
          <p:nvPr/>
        </p:nvSpPr>
        <p:spPr>
          <a:xfrm>
            <a:off x="365760" y="2468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News window opens</a:t>
            </a:r>
            <a:endParaRPr lang="en-US" sz="1200" dirty="0"/>
          </a:p>
        </p:txBody>
      </p:sp>
      <p:sp>
        <p:nvSpPr>
          <p:cNvPr id="7" name="Timeline dot 2"/>
          <p:cNvSpPr/>
          <p:nvPr/>
        </p:nvSpPr>
        <p:spPr>
          <a:xfrm>
            <a:off x="3163824" y="2066544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imeline year 2"/>
          <p:cNvSpPr txBox="1"/>
          <p:nvPr/>
        </p:nvSpPr>
        <p:spPr>
          <a:xfrm>
            <a:off x="2560320" y="1417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2013-01-01</a:t>
            </a:r>
            <a:endParaRPr lang="en-US" sz="1600" dirty="0"/>
          </a:p>
        </p:txBody>
      </p:sp>
      <p:sp>
        <p:nvSpPr>
          <p:cNvPr id="9" name="Timeline label 2"/>
          <p:cNvSpPr txBox="1"/>
          <p:nvPr/>
        </p:nvSpPr>
        <p:spPr>
          <a:xfrm>
            <a:off x="2560320" y="2468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Prediction cutoff T</a:t>
            </a:r>
            <a:endParaRPr lang="en-US" sz="1200" dirty="0"/>
          </a:p>
        </p:txBody>
      </p:sp>
      <p:sp>
        <p:nvSpPr>
          <p:cNvPr id="10" name="Timeline dot 3"/>
          <p:cNvSpPr/>
          <p:nvPr/>
        </p:nvSpPr>
        <p:spPr>
          <a:xfrm>
            <a:off x="5175504" y="2066544"/>
            <a:ext cx="256032" cy="25603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imeline year 3"/>
          <p:cNvSpPr txBox="1"/>
          <p:nvPr/>
        </p:nvSpPr>
        <p:spPr>
          <a:xfrm>
            <a:off x="4572000" y="1417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~2014</a:t>
            </a:r>
            <a:endParaRPr lang="en-US" sz="1600" dirty="0"/>
          </a:p>
        </p:txBody>
      </p:sp>
      <p:sp>
        <p:nvSpPr>
          <p:cNvPr id="12" name="Timeline label 3"/>
          <p:cNvSpPr txBox="1"/>
          <p:nvPr/>
        </p:nvSpPr>
        <p:spPr>
          <a:xfrm>
            <a:off x="4572000" y="2468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Crunchbase status = label</a:t>
            </a:r>
            <a:endParaRPr lang="en-US" sz="1200" dirty="0"/>
          </a:p>
        </p:txBody>
      </p:sp>
      <p:sp>
        <p:nvSpPr>
          <p:cNvPr id="13" name="Timeline dot 4"/>
          <p:cNvSpPr/>
          <p:nvPr/>
        </p:nvSpPr>
        <p:spPr>
          <a:xfrm>
            <a:off x="7552944" y="2066544"/>
            <a:ext cx="256032" cy="25603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imeline year 4"/>
          <p:cNvSpPr txBox="1"/>
          <p:nvPr/>
        </p:nvSpPr>
        <p:spPr>
          <a:xfrm>
            <a:off x="6949440" y="1417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2026</a:t>
            </a:r>
            <a:endParaRPr lang="en-US" sz="1600" dirty="0"/>
          </a:p>
        </p:txBody>
      </p:sp>
      <p:sp>
        <p:nvSpPr>
          <p:cNvPr id="15" name="Timeline label 4"/>
          <p:cNvSpPr txBox="1"/>
          <p:nvPr/>
        </p:nvSpPr>
        <p:spPr>
          <a:xfrm>
            <a:off x="6949440" y="2468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News collected today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2461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Today's news reports closures directly, which would give away the label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Only data dated before T is allowed; news is filtered twice (Hive check: 0 later items)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final feature is computable from pre-2013 information for every startup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From 66,368 rows to 22,075 eligible startups</a:t>
            </a:r>
            <a:endParaRPr lang="en-US" sz="2800" dirty="0"/>
          </a:p>
        </p:txBody>
      </p:sp>
      <p:graphicFrame>
        <p:nvGraphicFramePr>
          <p:cNvPr id="3" name="Funnel chart" descr=""/>
          <p:cNvGraphicFramePr/>
          <p:nvPr/>
        </p:nvGraphicFramePr>
        <p:xfrm>
          <a:off x="457200" y="109728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lass split card"/>
          <p:cNvSpPr/>
          <p:nvPr/>
        </p:nvSpPr>
        <p:spPr>
          <a:xfrm>
            <a:off x="5669280" y="1188720"/>
            <a:ext cx="3017520" cy="329184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t closed number"/>
          <p:cNvSpPr txBox="1"/>
          <p:nvPr/>
        </p:nvSpPr>
        <p:spPr>
          <a:xfrm>
            <a:off x="5897880" y="13258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13.15%</a:t>
            </a:r>
            <a:endParaRPr lang="en-US" sz="4000" dirty="0"/>
          </a:p>
        </p:txBody>
      </p:sp>
      <p:sp>
        <p:nvSpPr>
          <p:cNvPr id="6" name="Stat closed label"/>
          <p:cNvSpPr txBox="1"/>
          <p:nvPr/>
        </p:nvSpPr>
        <p:spPr>
          <a:xfrm>
            <a:off x="5897880" y="20391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closed (2,902): label 0</a:t>
            </a:r>
            <a:endParaRPr lang="en-US" sz="1200" dirty="0"/>
          </a:p>
        </p:txBody>
      </p:sp>
      <p:sp>
        <p:nvSpPr>
          <p:cNvPr id="7" name="Stat operating number"/>
          <p:cNvSpPr txBox="1"/>
          <p:nvPr/>
        </p:nvSpPr>
        <p:spPr>
          <a:xfrm>
            <a:off x="5897880" y="26060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86.85%</a:t>
            </a:r>
            <a:endParaRPr lang="en-US" sz="4000" dirty="0"/>
          </a:p>
        </p:txBody>
      </p:sp>
      <p:sp>
        <p:nvSpPr>
          <p:cNvPr id="8" name="Stat operating label"/>
          <p:cNvSpPr txBox="1"/>
          <p:nvPr/>
        </p:nvSpPr>
        <p:spPr>
          <a:xfrm>
            <a:off x="5897880" y="33192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operating (19,173): label 1</a:t>
            </a:r>
            <a:endParaRPr lang="en-US" sz="1200" dirty="0"/>
          </a:p>
        </p:txBody>
      </p:sp>
      <p:sp>
        <p:nvSpPr>
          <p:cNvPr id="9" name="Exclusion note"/>
          <p:cNvSpPr txBox="1"/>
          <p:nvPr/>
        </p:nvSpPr>
        <p:spPr>
          <a:xfrm>
            <a:off x="5897880" y="3886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Acquired and IPO companies are excluded as ambiguous outcomes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One pipeline, five layers of the stack</a:t>
            </a:r>
            <a:endParaRPr lang="en-US" sz="2800" dirty="0"/>
          </a:p>
        </p:txBody>
      </p:sp>
      <p:sp>
        <p:nvSpPr>
          <p:cNvPr id="3" name="Stage HDFS"/>
          <p:cNvSpPr/>
          <p:nvPr/>
        </p:nvSpPr>
        <p:spPr>
          <a:xfrm>
            <a:off x="457200" y="1463040"/>
            <a:ext cx="1481328" cy="1463040"/>
          </a:xfrm>
          <a:prstGeom prst="roundRect">
            <a:avLst>
              <a:gd name="adj" fmla="val 5000"/>
            </a:avLst>
          </a:prstGeom>
          <a:solidFill>
            <a:srgbClr val="DCE8F2"/>
          </a:solidFill>
          <a:ln w="12700">
            <a:solidFill>
              <a:srgbClr val="DCE8F2"/>
            </a:solidFill>
            <a:prstDash val="solid"/>
          </a:ln>
        </p:spPr>
      </p:sp>
      <p:sp>
        <p:nvSpPr>
          <p:cNvPr id="4" name="Stage title 1"/>
          <p:cNvSpPr txBox="1"/>
          <p:nvPr/>
        </p:nvSpPr>
        <p:spPr>
          <a:xfrm>
            <a:off x="566928" y="1600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HDFS</a:t>
            </a:r>
            <a:endParaRPr lang="en-US" sz="1700" dirty="0"/>
          </a:p>
        </p:txBody>
      </p:sp>
      <p:sp>
        <p:nvSpPr>
          <p:cNvPr id="5" name="Stage desc 1"/>
          <p:cNvSpPr txBox="1"/>
          <p:nvPr/>
        </p:nvSpPr>
        <p:spPr>
          <a:xfrm>
            <a:off x="566928" y="20574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startups and collected news</a:t>
            </a:r>
            <a:endParaRPr lang="en-US" sz="1200" dirty="0"/>
          </a:p>
        </p:txBody>
      </p:sp>
      <p:sp>
        <p:nvSpPr>
          <p:cNvPr id="6" name="Arrow 1"/>
          <p:cNvSpPr/>
          <p:nvPr/>
        </p:nvSpPr>
        <p:spPr>
          <a:xfrm>
            <a:off x="1984248" y="2075688"/>
            <a:ext cx="146304" cy="237744"/>
          </a:xfrm>
          <a:prstGeom prst="chevron">
            <a:avLst/>
          </a:prstGeom>
          <a:solidFill>
            <a:srgbClr val="8A97A8"/>
          </a:solidFill>
          <a:ln w="12700">
            <a:solidFill>
              <a:srgbClr val="8A97A8"/>
            </a:solidFill>
            <a:prstDash val="solid"/>
          </a:ln>
        </p:spPr>
      </p:sp>
      <p:sp>
        <p:nvSpPr>
          <p:cNvPr id="7" name="Stage Hive"/>
          <p:cNvSpPr/>
          <p:nvPr/>
        </p:nvSpPr>
        <p:spPr>
          <a:xfrm>
            <a:off x="2157984" y="1463040"/>
            <a:ext cx="1481328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ge title 2"/>
          <p:cNvSpPr txBox="1"/>
          <p:nvPr/>
        </p:nvSpPr>
        <p:spPr>
          <a:xfrm>
            <a:off x="2267712" y="1600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Hive</a:t>
            </a:r>
            <a:endParaRPr lang="en-US" sz="1700" dirty="0"/>
          </a:p>
        </p:txBody>
      </p:sp>
      <p:sp>
        <p:nvSpPr>
          <p:cNvPr id="9" name="Stage desc 2"/>
          <p:cNvSpPr txBox="1"/>
          <p:nvPr/>
        </p:nvSpPr>
        <p:spPr>
          <a:xfrm>
            <a:off x="2267712" y="20574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SQL over the same files</a:t>
            </a:r>
            <a:endParaRPr lang="en-US" sz="1200" dirty="0"/>
          </a:p>
        </p:txBody>
      </p:sp>
      <p:sp>
        <p:nvSpPr>
          <p:cNvPr id="10" name="Arrow 2"/>
          <p:cNvSpPr/>
          <p:nvPr/>
        </p:nvSpPr>
        <p:spPr>
          <a:xfrm>
            <a:off x="3685032" y="2075688"/>
            <a:ext cx="146304" cy="237744"/>
          </a:xfrm>
          <a:prstGeom prst="chevron">
            <a:avLst/>
          </a:prstGeom>
          <a:solidFill>
            <a:srgbClr val="8A97A8"/>
          </a:solidFill>
          <a:ln w="12700">
            <a:solidFill>
              <a:srgbClr val="8A97A8"/>
            </a:solidFill>
            <a:prstDash val="solid"/>
          </a:ln>
        </p:spPr>
      </p:sp>
      <p:sp>
        <p:nvSpPr>
          <p:cNvPr id="11" name="Stage Scala"/>
          <p:cNvSpPr/>
          <p:nvPr/>
        </p:nvSpPr>
        <p:spPr>
          <a:xfrm>
            <a:off x="3858768" y="1463040"/>
            <a:ext cx="1481328" cy="1463040"/>
          </a:xfrm>
          <a:prstGeom prst="roundRect">
            <a:avLst>
              <a:gd name="adj" fmla="val 5000"/>
            </a:avLst>
          </a:prstGeom>
          <a:solidFill>
            <a:srgbClr val="DCE8F2"/>
          </a:solidFill>
          <a:ln w="12700">
            <a:solidFill>
              <a:srgbClr val="DCE8F2"/>
            </a:solidFill>
            <a:prstDash val="solid"/>
          </a:ln>
        </p:spPr>
      </p:sp>
      <p:sp>
        <p:nvSpPr>
          <p:cNvPr id="12" name="Stage title 3"/>
          <p:cNvSpPr txBox="1"/>
          <p:nvPr/>
        </p:nvSpPr>
        <p:spPr>
          <a:xfrm>
            <a:off x="3968496" y="1600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</a:t>
            </a:r>
            <a:endParaRPr lang="en-US" sz="1700" dirty="0"/>
          </a:p>
        </p:txBody>
      </p:sp>
      <p:sp>
        <p:nvSpPr>
          <p:cNvPr id="13" name="Stage desc 3"/>
          <p:cNvSpPr txBox="1"/>
          <p:nvPr/>
        </p:nvSpPr>
        <p:spPr>
          <a:xfrm>
            <a:off x="3968496" y="20574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collect, match, score</a:t>
            </a:r>
            <a:endParaRPr lang="en-US" sz="1200" dirty="0"/>
          </a:p>
        </p:txBody>
      </p:sp>
      <p:sp>
        <p:nvSpPr>
          <p:cNvPr id="14" name="Arrow 3"/>
          <p:cNvSpPr/>
          <p:nvPr/>
        </p:nvSpPr>
        <p:spPr>
          <a:xfrm>
            <a:off x="5385816" y="2075688"/>
            <a:ext cx="146304" cy="237744"/>
          </a:xfrm>
          <a:prstGeom prst="chevron">
            <a:avLst/>
          </a:prstGeom>
          <a:solidFill>
            <a:srgbClr val="8A97A8"/>
          </a:solidFill>
          <a:ln w="12700">
            <a:solidFill>
              <a:srgbClr val="8A97A8"/>
            </a:solidFill>
            <a:prstDash val="solid"/>
          </a:ln>
        </p:spPr>
      </p:sp>
      <p:sp>
        <p:nvSpPr>
          <p:cNvPr id="15" name="Stage Spark RDDs"/>
          <p:cNvSpPr/>
          <p:nvPr/>
        </p:nvSpPr>
        <p:spPr>
          <a:xfrm>
            <a:off x="5559552" y="1463040"/>
            <a:ext cx="1481328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age title 4"/>
          <p:cNvSpPr txBox="1"/>
          <p:nvPr/>
        </p:nvSpPr>
        <p:spPr>
          <a:xfrm>
            <a:off x="5669280" y="1600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RDDs</a:t>
            </a:r>
            <a:endParaRPr lang="en-US" sz="1700" dirty="0"/>
          </a:p>
        </p:txBody>
      </p:sp>
      <p:sp>
        <p:nvSpPr>
          <p:cNvPr id="17" name="Stage desc 4"/>
          <p:cNvSpPr txBox="1"/>
          <p:nvPr/>
        </p:nvSpPr>
        <p:spPr>
          <a:xfrm>
            <a:off x="5669280" y="20574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textFile, joins, persist</a:t>
            </a:r>
            <a:endParaRPr lang="en-US" sz="1200" dirty="0"/>
          </a:p>
        </p:txBody>
      </p:sp>
      <p:sp>
        <p:nvSpPr>
          <p:cNvPr id="18" name="Arrow 4"/>
          <p:cNvSpPr/>
          <p:nvPr/>
        </p:nvSpPr>
        <p:spPr>
          <a:xfrm>
            <a:off x="7086600" y="2075688"/>
            <a:ext cx="146304" cy="237744"/>
          </a:xfrm>
          <a:prstGeom prst="chevron">
            <a:avLst/>
          </a:prstGeom>
          <a:solidFill>
            <a:srgbClr val="8A97A8"/>
          </a:solidFill>
          <a:ln w="12700">
            <a:solidFill>
              <a:srgbClr val="8A97A8"/>
            </a:solidFill>
            <a:prstDash val="solid"/>
          </a:ln>
        </p:spPr>
      </p:sp>
      <p:sp>
        <p:nvSpPr>
          <p:cNvPr id="19" name="Stage MLlib"/>
          <p:cNvSpPr/>
          <p:nvPr/>
        </p:nvSpPr>
        <p:spPr>
          <a:xfrm>
            <a:off x="7260336" y="1463040"/>
            <a:ext cx="1481328" cy="1463040"/>
          </a:xfrm>
          <a:prstGeom prst="roundRect">
            <a:avLst>
              <a:gd name="adj" fmla="val 5000"/>
            </a:avLst>
          </a:prstGeom>
          <a:solidFill>
            <a:srgbClr val="DCE8F2"/>
          </a:solidFill>
          <a:ln w="12700">
            <a:solidFill>
              <a:srgbClr val="DCE8F2"/>
            </a:solidFill>
            <a:prstDash val="solid"/>
          </a:ln>
        </p:spPr>
      </p:sp>
      <p:sp>
        <p:nvSpPr>
          <p:cNvPr id="20" name="Stage title 5"/>
          <p:cNvSpPr txBox="1"/>
          <p:nvPr/>
        </p:nvSpPr>
        <p:spPr>
          <a:xfrm>
            <a:off x="7370064" y="1600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MLlib</a:t>
            </a:r>
            <a:endParaRPr lang="en-US" sz="1700" dirty="0"/>
          </a:p>
        </p:txBody>
      </p:sp>
      <p:sp>
        <p:nvSpPr>
          <p:cNvPr id="21" name="Stage desc 5"/>
          <p:cNvSpPr txBox="1"/>
          <p:nvPr/>
        </p:nvSpPr>
        <p:spPr>
          <a:xfrm>
            <a:off x="7370064" y="20574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LR and SVM, 5-fold CV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Hadoop 3.3.6 · Hive 3.1.3 · Scala 2.12.18 · Spark 3.5.1, on a single-node WSL2 cluster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31 ScalaTest unit tests; Python is used only for plots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Collecting pre-2013 news at scale</a:t>
            </a:r>
            <a:endParaRPr lang="en-US" sz="2800" dirty="0"/>
          </a:p>
        </p:txBody>
      </p:sp>
      <p:sp>
        <p:nvSpPr>
          <p:cNvPr id="3" name="Stat cohort number"/>
          <p:cNvSpPr txBox="1"/>
          <p:nvPr/>
        </p:nvSpPr>
        <p:spPr>
          <a:xfrm>
            <a:off x="457200" y="11887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815</a:t>
            </a:r>
            <a:endParaRPr lang="en-US" sz="4000" dirty="0"/>
          </a:p>
        </p:txBody>
      </p:sp>
      <p:sp>
        <p:nvSpPr>
          <p:cNvPr id="4" name="Stat cohort label"/>
          <p:cNvSpPr txBox="1"/>
          <p:nvPr/>
        </p:nvSpPr>
        <p:spPr>
          <a:xfrm>
            <a:off x="457200" y="19019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startups queried: a balanced random cohort (408 closed)</a:t>
            </a:r>
            <a:endParaRPr lang="en-US" sz="1200" dirty="0"/>
          </a:p>
        </p:txBody>
      </p:sp>
      <p:sp>
        <p:nvSpPr>
          <p:cNvPr id="5" name="Stat headlines number"/>
          <p:cNvSpPr txBox="1"/>
          <p:nvPr/>
        </p:nvSpPr>
        <p:spPr>
          <a:xfrm>
            <a:off x="3246120" y="11887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3,122</a:t>
            </a:r>
            <a:endParaRPr lang="en-US" sz="4000" dirty="0"/>
          </a:p>
        </p:txBody>
      </p:sp>
      <p:sp>
        <p:nvSpPr>
          <p:cNvPr id="6" name="Stat headlines label"/>
          <p:cNvSpPr txBox="1"/>
          <p:nvPr/>
        </p:nvSpPr>
        <p:spPr>
          <a:xfrm>
            <a:off x="3246120" y="19019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unique pre-2013 headlines, of which 378 matched the company name</a:t>
            </a:r>
            <a:endParaRPr lang="en-US" sz="1200" dirty="0"/>
          </a:p>
        </p:txBody>
      </p:sp>
      <p:sp>
        <p:nvSpPr>
          <p:cNvPr id="7" name="Stat covered number"/>
          <p:cNvSpPr txBox="1"/>
          <p:nvPr/>
        </p:nvSpPr>
        <p:spPr>
          <a:xfrm>
            <a:off x="6035040" y="11887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4000" dirty="0"/>
          </a:p>
        </p:txBody>
      </p:sp>
      <p:sp>
        <p:nvSpPr>
          <p:cNvPr id="8" name="Stat covered label"/>
          <p:cNvSpPr txBox="1"/>
          <p:nvPr/>
        </p:nvSpPr>
        <p:spPr>
          <a:xfrm>
            <a:off x="6035040" y="19019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startups with matched news (8.5%): 6.1% of closed vs 10.8% of operating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3464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Google News rate-limited us after 175 requests, so the collector became resumable and checkpointed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Balanced order: any stopping point is a 1:1 random sample, which maximises AUC precision per request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Failed requests are retried, never counted as “no news”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Is the headline about this company?</a:t>
            </a:r>
            <a:endParaRPr lang="en-US" sz="2800" dirty="0"/>
          </a:p>
        </p:txBody>
      </p:sp>
      <p:graphicFrame>
        <p:nvGraphicFramePr>
          <p:cNvPr id="3" name="Audit chart" descr=""/>
          <p:cNvGraphicFramePr/>
          <p:nvPr/>
        </p:nvGraphicFramePr>
        <p:xfrm>
          <a:off x="457200" y="109728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ixes title"/>
          <p:cNvSpPr txBox="1"/>
          <p:nvPr/>
        </p:nvSpPr>
        <p:spPr>
          <a:xfrm>
            <a:off x="493776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Fixes, each from a real error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937760" y="160020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“Quorum” matched votes on a quorum, so ordinary dictionary words are now ambiguous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“Wireless Tech” matched any “wireless” headline, so partial matches need a distinctive word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“… - Seeking Alpha” matched the startup Seeking Alpha, so outlet suffixes are stripped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 transparent, explainable sentiment scorer</a:t>
            </a:r>
            <a:endParaRPr lang="en-US" sz="2800" dirty="0"/>
          </a:p>
        </p:txBody>
      </p:sp>
      <p:sp>
        <p:nvSpPr>
          <p:cNvPr id="3" name="Headline card"/>
          <p:cNvSpPr/>
          <p:nvPr/>
        </p:nvSpPr>
        <p:spPr>
          <a:xfrm>
            <a:off x="457200" y="11430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DCE8F2"/>
          </a:solidFill>
          <a:ln w="12700">
            <a:solidFill>
              <a:srgbClr val="DCE8F2"/>
            </a:solidFill>
            <a:prstDash val="solid"/>
          </a:ln>
        </p:spPr>
      </p:sp>
      <p:sp>
        <p:nvSpPr>
          <p:cNvPr id="4" name="Example headline"/>
          <p:cNvSpPr txBox="1"/>
          <p:nvPr/>
        </p:nvSpPr>
        <p:spPr>
          <a:xfrm>
            <a:off x="685800" y="11430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“Startup X raises major funding and expands into new markets”</a:t>
            </a:r>
            <a:endParaRPr lang="en-US" sz="1800" dirty="0"/>
          </a:p>
        </p:txBody>
      </p:sp>
      <p:sp>
        <p:nvSpPr>
          <p:cNvPr id="5" name="Step dot 1"/>
          <p:cNvSpPr/>
          <p:nvPr/>
        </p:nvSpPr>
        <p:spPr>
          <a:xfrm>
            <a:off x="457200" y="2377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1F9E74"/>
            </a:solidFill>
            <a:prstDash val="solid"/>
          </a:ln>
        </p:spPr>
      </p:sp>
      <p:sp>
        <p:nvSpPr>
          <p:cNvPr id="6" name="Step num 1"/>
          <p:cNvSpPr txBox="1"/>
          <p:nvPr/>
        </p:nvSpPr>
        <p:spPr>
          <a:xfrm>
            <a:off x="4572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tep title 1"/>
          <p:cNvSpPr txBox="1"/>
          <p:nvPr/>
        </p:nvSpPr>
        <p:spPr>
          <a:xfrm>
            <a:off x="1005840" y="23591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Normalise</a:t>
            </a:r>
            <a:endParaRPr lang="en-US" sz="1500" dirty="0"/>
          </a:p>
        </p:txBody>
      </p:sp>
      <p:sp>
        <p:nvSpPr>
          <p:cNvPr id="8" name="Step desc 1"/>
          <p:cNvSpPr txBox="1"/>
          <p:nvPr/>
        </p:nvSpPr>
        <p:spPr>
          <a:xfrm>
            <a:off x="100584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lowercase, tokenise</a:t>
            </a:r>
            <a:endParaRPr lang="en-US" sz="1200" dirty="0"/>
          </a:p>
        </p:txBody>
      </p:sp>
      <p:sp>
        <p:nvSpPr>
          <p:cNvPr id="9" name="Step dot 2"/>
          <p:cNvSpPr/>
          <p:nvPr/>
        </p:nvSpPr>
        <p:spPr>
          <a:xfrm>
            <a:off x="2560320" y="2377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1F9E74"/>
            </a:solidFill>
            <a:prstDash val="solid"/>
          </a:ln>
        </p:spPr>
      </p:sp>
      <p:sp>
        <p:nvSpPr>
          <p:cNvPr id="10" name="Step num 2"/>
          <p:cNvSpPr txBox="1"/>
          <p:nvPr/>
        </p:nvSpPr>
        <p:spPr>
          <a:xfrm>
            <a:off x="25603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tep title 2"/>
          <p:cNvSpPr txBox="1"/>
          <p:nvPr/>
        </p:nvSpPr>
        <p:spPr>
          <a:xfrm>
            <a:off x="3108960" y="23591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Filter</a:t>
            </a:r>
            <a:endParaRPr lang="en-US" sz="1500" dirty="0"/>
          </a:p>
        </p:txBody>
      </p:sp>
      <p:sp>
        <p:nvSpPr>
          <p:cNvPr id="12" name="Step desc 2"/>
          <p:cNvSpPr txBox="1"/>
          <p:nvPr/>
        </p:nvSpPr>
        <p:spPr>
          <a:xfrm>
            <a:off x="310896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remove stopwords</a:t>
            </a:r>
            <a:endParaRPr lang="en-US" sz="1200" dirty="0"/>
          </a:p>
        </p:txBody>
      </p:sp>
      <p:sp>
        <p:nvSpPr>
          <p:cNvPr id="13" name="Step dot 3"/>
          <p:cNvSpPr/>
          <p:nvPr/>
        </p:nvSpPr>
        <p:spPr>
          <a:xfrm>
            <a:off x="4663440" y="2377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1F9E74"/>
            </a:solidFill>
            <a:prstDash val="solid"/>
          </a:ln>
        </p:spPr>
      </p:sp>
      <p:sp>
        <p:nvSpPr>
          <p:cNvPr id="14" name="Step num 3"/>
          <p:cNvSpPr txBox="1"/>
          <p:nvPr/>
        </p:nvSpPr>
        <p:spPr>
          <a:xfrm>
            <a:off x="46634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Step title 3"/>
          <p:cNvSpPr txBox="1"/>
          <p:nvPr/>
        </p:nvSpPr>
        <p:spPr>
          <a:xfrm>
            <a:off x="5212080" y="23591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Match</a:t>
            </a:r>
            <a:endParaRPr lang="en-US" sz="1500" dirty="0"/>
          </a:p>
        </p:txBody>
      </p:sp>
      <p:sp>
        <p:nvSpPr>
          <p:cNvPr id="16" name="Step desc 3"/>
          <p:cNvSpPr txBox="1"/>
          <p:nvPr/>
        </p:nvSpPr>
        <p:spPr>
          <a:xfrm>
            <a:off x="521208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foldLeft over lexicon</a:t>
            </a:r>
            <a:endParaRPr lang="en-US" sz="1200" dirty="0"/>
          </a:p>
        </p:txBody>
      </p:sp>
      <p:sp>
        <p:nvSpPr>
          <p:cNvPr id="17" name="Step dot 4"/>
          <p:cNvSpPr/>
          <p:nvPr/>
        </p:nvSpPr>
        <p:spPr>
          <a:xfrm>
            <a:off x="6766560" y="2377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1F9E74"/>
            </a:solidFill>
            <a:prstDash val="solid"/>
          </a:ln>
        </p:spPr>
      </p:sp>
      <p:sp>
        <p:nvSpPr>
          <p:cNvPr id="18" name="Step num 4"/>
          <p:cNvSpPr txBox="1"/>
          <p:nvPr/>
        </p:nvSpPr>
        <p:spPr>
          <a:xfrm>
            <a:off x="67665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Step title 4"/>
          <p:cNvSpPr txBox="1"/>
          <p:nvPr/>
        </p:nvSpPr>
        <p:spPr>
          <a:xfrm>
            <a:off x="7315200" y="23591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Score</a:t>
            </a:r>
            <a:endParaRPr lang="en-US" sz="1500" dirty="0"/>
          </a:p>
        </p:txBody>
      </p:sp>
      <p:sp>
        <p:nvSpPr>
          <p:cNvPr id="20" name="Step desc 4"/>
          <p:cNvSpPr txBox="1"/>
          <p:nvPr/>
        </p:nvSpPr>
        <p:spPr>
          <a:xfrm>
            <a:off x="731520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+3 → Positive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3375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lexicon is specific to startup news (Loughran &amp; McDonald, 2011)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score is explained by its matched words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Measured limit: 87% of matched headlines score Neutral; there is no negation handling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Nested feature sets isolate each effect</a:t>
            </a:r>
            <a:endParaRPr lang="en-US" sz="2800" dirty="0"/>
          </a:p>
        </p:txBody>
      </p:sp>
      <p:sp>
        <p:nvSpPr>
          <p:cNvPr id="3" name="Set Leak-free"/>
          <p:cNvSpPr/>
          <p:nvPr/>
        </p:nvSpPr>
        <p:spPr>
          <a:xfrm>
            <a:off x="457200" y="11887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DCE8F2"/>
          </a:solidFill>
          <a:ln w="12700">
            <a:solidFill>
              <a:srgbClr val="DCE8F2"/>
            </a:solidFill>
            <a:prstDash val="solid"/>
          </a:ln>
        </p:spPr>
      </p:sp>
      <p:sp>
        <p:nvSpPr>
          <p:cNvPr id="4" name="Set title 1"/>
          <p:cNvSpPr txBox="1"/>
          <p:nvPr/>
        </p:nvSpPr>
        <p:spPr>
          <a:xfrm>
            <a:off x="685800" y="1325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Leak-free</a:t>
            </a:r>
            <a:endParaRPr lang="en-US" sz="1700" dirty="0"/>
          </a:p>
        </p:txBody>
      </p:sp>
      <p:sp>
        <p:nvSpPr>
          <p:cNvPr id="5" name="Set desc 1"/>
          <p:cNvSpPr txBox="1"/>
          <p:nvPr/>
        </p:nvSpPr>
        <p:spPr>
          <a:xfrm>
            <a:off x="2606040" y="137160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Age, years since first funding, founding → funding gap, 20 categories, 10 countries</a:t>
            </a:r>
            <a:endParaRPr lang="en-US" sz="1300" dirty="0"/>
          </a:p>
        </p:txBody>
      </p:sp>
      <p:sp>
        <p:nvSpPr>
          <p:cNvPr id="6" name="Set + Coverage"/>
          <p:cNvSpPr/>
          <p:nvPr/>
        </p:nvSpPr>
        <p:spPr>
          <a:xfrm>
            <a:off x="822960" y="2286000"/>
            <a:ext cx="7863840" cy="914400"/>
          </a:xfrm>
          <a:prstGeom prst="roundRect">
            <a:avLst>
              <a:gd name="adj" fmla="val 8000"/>
            </a:avLst>
          </a:prstGeom>
          <a:solidFill>
            <a:srgbClr val="FDF1D6"/>
          </a:solidFill>
          <a:ln w="12700">
            <a:solidFill>
              <a:srgbClr val="FDF1D6"/>
            </a:solidFill>
            <a:prstDash val="solid"/>
          </a:ln>
        </p:spPr>
      </p:sp>
      <p:sp>
        <p:nvSpPr>
          <p:cNvPr id="7" name="Set title 2"/>
          <p:cNvSpPr txBox="1"/>
          <p:nvPr/>
        </p:nvSpPr>
        <p:spPr>
          <a:xfrm>
            <a:off x="105156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Coverage</a:t>
            </a:r>
            <a:endParaRPr lang="en-US" sz="1700" dirty="0"/>
          </a:p>
        </p:txBody>
      </p:sp>
      <p:sp>
        <p:nvSpPr>
          <p:cNvPr id="8" name="Set desc 2"/>
          <p:cNvSpPr txBox="1"/>
          <p:nvPr/>
        </p:nvSpPr>
        <p:spPr>
          <a:xfrm>
            <a:off x="2971800" y="24688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How much news: log news count, has-coverage flag</a:t>
            </a:r>
            <a:endParaRPr lang="en-US" sz="1300" dirty="0"/>
          </a:p>
        </p:txBody>
      </p:sp>
      <p:sp>
        <p:nvSpPr>
          <p:cNvPr id="9" name="Set + Sentiment"/>
          <p:cNvSpPr/>
          <p:nvPr/>
        </p:nvSpPr>
        <p:spPr>
          <a:xfrm>
            <a:off x="1188720" y="3383280"/>
            <a:ext cx="7498080" cy="914400"/>
          </a:xfrm>
          <a:prstGeom prst="roundRect">
            <a:avLst>
              <a:gd name="adj" fmla="val 8000"/>
            </a:avLst>
          </a:prstGeom>
          <a:solidFill>
            <a:srgbClr val="E3F3EC"/>
          </a:solidFill>
          <a:ln w="12700">
            <a:solidFill>
              <a:srgbClr val="E3F3EC"/>
            </a:solidFill>
            <a:prstDash val="solid"/>
          </a:ln>
        </p:spPr>
      </p:sp>
      <p:sp>
        <p:nvSpPr>
          <p:cNvPr id="10" name="Set title 3"/>
          <p:cNvSpPr txBox="1"/>
          <p:nvPr/>
        </p:nvSpPr>
        <p:spPr>
          <a:xfrm>
            <a:off x="141732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Sentiment</a:t>
            </a:r>
            <a:endParaRPr lang="en-US" sz="1700" dirty="0"/>
          </a:p>
        </p:txBody>
      </p:sp>
      <p:sp>
        <p:nvSpPr>
          <p:cNvPr id="11" name="Set desc 3"/>
          <p:cNvSpPr txBox="1"/>
          <p:nvPr/>
        </p:nvSpPr>
        <p:spPr>
          <a:xfrm>
            <a:off x="3337560" y="35661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What it says: counts by class, ratios, average, recent, trend, volatility</a:t>
            </a:r>
            <a:endParaRPr lang="en-US" sz="1300" dirty="0"/>
          </a:p>
        </p:txBody>
      </p:sp>
      <p:sp>
        <p:nvSpPr>
          <p:cNvPr id="12" name="Nested note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Each set is a strict superset of the previous one, so a difference can only come from the added group.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How we evaluate</a:t>
            </a:r>
            <a:endParaRPr lang="en-US" sz="2800" dirty="0"/>
          </a:p>
        </p:txBody>
      </p:sp>
      <p:sp>
        <p:nvSpPr>
          <p:cNvPr id="3" name="Eval 5-fold CV"/>
          <p:cNvSpPr/>
          <p:nvPr/>
        </p:nvSpPr>
        <p:spPr>
          <a:xfrm>
            <a:off x="457200" y="118872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Eval title 1"/>
          <p:cNvSpPr txBox="1"/>
          <p:nvPr/>
        </p:nvSpPr>
        <p:spPr>
          <a:xfrm>
            <a:off x="68580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5-fold CV</a:t>
            </a:r>
            <a:endParaRPr lang="en-US" sz="1700" dirty="0"/>
          </a:p>
        </p:txBody>
      </p:sp>
      <p:sp>
        <p:nvSpPr>
          <p:cNvPr id="5" name="Eval desc 1"/>
          <p:cNvSpPr txBox="1"/>
          <p:nvPr/>
        </p:nvSpPr>
        <p:spPr>
          <a:xfrm>
            <a:off x="685800" y="181051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stratified; the same folds for every experiment, so comparisons are paired</a:t>
            </a:r>
            <a:endParaRPr lang="en-US" sz="1300" dirty="0"/>
          </a:p>
        </p:txBody>
      </p:sp>
      <p:sp>
        <p:nvSpPr>
          <p:cNvPr id="6" name="Eval Tuned threshold"/>
          <p:cNvSpPr/>
          <p:nvPr/>
        </p:nvSpPr>
        <p:spPr>
          <a:xfrm>
            <a:off x="4663440" y="118872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Eval title 2"/>
          <p:cNvSpPr txBox="1"/>
          <p:nvPr/>
        </p:nvSpPr>
        <p:spPr>
          <a:xfrm>
            <a:off x="489204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Tuned threshold</a:t>
            </a:r>
            <a:endParaRPr lang="en-US" sz="1700" dirty="0"/>
          </a:p>
        </p:txBody>
      </p:sp>
      <p:sp>
        <p:nvSpPr>
          <p:cNvPr id="8" name="Eval desc 2"/>
          <p:cNvSpPr txBox="1"/>
          <p:nvPr/>
        </p:nvSpPr>
        <p:spPr>
          <a:xfrm>
            <a:off x="4892040" y="181051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picked on an inner validation split; the test fold is never used</a:t>
            </a:r>
            <a:endParaRPr lang="en-US" sz="1300" dirty="0"/>
          </a:p>
        </p:txBody>
      </p:sp>
      <p:sp>
        <p:nvSpPr>
          <p:cNvPr id="9" name="Eval Paired bootstrap"/>
          <p:cNvSpPr/>
          <p:nvPr/>
        </p:nvSpPr>
        <p:spPr>
          <a:xfrm>
            <a:off x="457200" y="278892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Eval title 3"/>
          <p:cNvSpPr txBox="1"/>
          <p:nvPr/>
        </p:nvSpPr>
        <p:spPr>
          <a:xfrm>
            <a:off x="68580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Paired bootstrap</a:t>
            </a:r>
            <a:endParaRPr lang="en-US" sz="1700" dirty="0"/>
          </a:p>
        </p:txBody>
      </p:sp>
      <p:sp>
        <p:nvSpPr>
          <p:cNvPr id="11" name="Eval desc 3"/>
          <p:cNvSpPr txBox="1"/>
          <p:nvPr/>
        </p:nvSpPr>
        <p:spPr>
          <a:xfrm>
            <a:off x="685800" y="341071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2,000 resamples give a 95% CI and p-value for every “does X help?”</a:t>
            </a:r>
            <a:endParaRPr lang="en-US" sz="1300" dirty="0"/>
          </a:p>
        </p:txBody>
      </p:sp>
      <p:sp>
        <p:nvSpPr>
          <p:cNvPr id="12" name="Eval AUC first"/>
          <p:cNvSpPr/>
          <p:nvPr/>
        </p:nvSpPr>
        <p:spPr>
          <a:xfrm>
            <a:off x="4663440" y="278892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Eval title 4"/>
          <p:cNvSpPr txBox="1"/>
          <p:nvPr/>
        </p:nvSpPr>
        <p:spPr>
          <a:xfrm>
            <a:off x="489204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first</a:t>
            </a:r>
            <a:endParaRPr lang="en-US" sz="1700" dirty="0"/>
          </a:p>
        </p:txBody>
      </p:sp>
      <p:sp>
        <p:nvSpPr>
          <p:cNvPr id="14" name="Eval desc 4"/>
          <p:cNvSpPr txBox="1"/>
          <p:nvPr/>
        </p:nvSpPr>
        <p:spPr>
          <a:xfrm>
            <a:off x="4892040" y="341071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independent of class balance; our AUC matches Spark's to 6 decimals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Finding 1: a leak worth 0.044 AUC</a:t>
            </a:r>
            <a:endParaRPr lang="en-US" sz="2800" dirty="0"/>
          </a:p>
        </p:txBody>
      </p:sp>
      <p:graphicFrame>
        <p:nvGraphicFramePr>
          <p:cNvPr id="3" name="Leakage chart" descr=""/>
          <p:cNvGraphicFramePr/>
          <p:nvPr/>
        </p:nvGraphicFramePr>
        <p:xfrm>
          <a:off x="457200" y="1051560"/>
          <a:ext cx="475488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40680" y="1188720"/>
            <a:ext cx="32461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fundingDataLeakageSafe = 0 meant “raised money after 2013”, and it was the largest coefficient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LR ΔAUC −0.044 [−0.054, −0.034], SVM −0.028; both p &lt; 0.001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Leak-free features still give AUC 0.679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Lesson: a missing-value flag is itself a feature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Finding 2: tone helps a little, volume doesn't</a:t>
            </a:r>
            <a:endParaRPr lang="en-US" sz="2800" dirty="0"/>
          </a:p>
        </p:txBody>
      </p:sp>
      <p:graphicFrame>
        <p:nvGraphicFramePr>
          <p:cNvPr id="3" name="Ablation chart" descr=""/>
          <p:cNvGraphicFramePr/>
          <p:nvPr/>
        </p:nvGraphicFramePr>
        <p:xfrm>
          <a:off x="457200" y="1051560"/>
          <a:ext cx="475488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Significanc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1234440"/>
          <a:ext cx="3337560" cy="914400"/>
        </p:xfrm>
        <a:graphic>
          <a:graphicData uri="http://schemas.openxmlformats.org/drawingml/2006/table">
            <a:tbl>
              <a:tblPr/>
              <a:tblGrid>
                <a:gridCol w="621792"/>
                <a:gridCol w="566928"/>
                <a:gridCol w="1554480"/>
                <a:gridCol w="594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Added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Model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ΔAUC [95% CI]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p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Volume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LR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+0.001 [−0.010, 0.012]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0.80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Volume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SVM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+0.003 [−0.008, 0.014]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0.57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Tone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LR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+0.010 [0.000, 0.021]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0.047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Tone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SVM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+0.006 [−0.003, 0.016]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0.16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one caveat"/>
          <p:cNvSpPr txBox="1"/>
          <p:nvPr/>
        </p:nvSpPr>
        <p:spPr>
          <a:xfrm>
            <a:off x="5394960" y="34290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Tone helps in the same direction for both models, but only LR reaches p &lt; 0.05, and that does not survive correction for 8 tests.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Why the sentiment signal is weak</a:t>
            </a:r>
            <a:endParaRPr lang="en-US" sz="2800" dirty="0"/>
          </a:p>
        </p:txBody>
      </p:sp>
      <p:sp>
        <p:nvSpPr>
          <p:cNvPr id="3" name="Stat coverage number"/>
          <p:cNvSpPr txBox="1"/>
          <p:nvPr/>
        </p:nvSpPr>
        <p:spPr>
          <a:xfrm>
            <a:off x="457200" y="12344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8.5%</a:t>
            </a:r>
            <a:endParaRPr lang="en-US" sz="3600" dirty="0"/>
          </a:p>
        </p:txBody>
      </p:sp>
      <p:sp>
        <p:nvSpPr>
          <p:cNvPr id="4" name="Stat coverage label"/>
          <p:cNvSpPr txBox="1"/>
          <p:nvPr/>
        </p:nvSpPr>
        <p:spPr>
          <a:xfrm>
            <a:off x="457200" y="19476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 startups have any matched pre-2013 news</a:t>
            </a:r>
            <a:endParaRPr lang="en-US" sz="1200" dirty="0"/>
          </a:p>
        </p:txBody>
      </p:sp>
      <p:sp>
        <p:nvSpPr>
          <p:cNvPr id="5" name="Stat precision number"/>
          <p:cNvSpPr txBox="1"/>
          <p:nvPr/>
        </p:nvSpPr>
        <p:spPr>
          <a:xfrm>
            <a:off x="3246120" y="12344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</a:t>
            </a:r>
            <a:endParaRPr lang="en-US" sz="3600" dirty="0"/>
          </a:p>
        </p:txBody>
      </p:sp>
      <p:sp>
        <p:nvSpPr>
          <p:cNvPr id="6" name="Stat precision label"/>
          <p:cNvSpPr txBox="1"/>
          <p:nvPr/>
        </p:nvSpPr>
        <p:spPr>
          <a:xfrm>
            <a:off x="3246120" y="19476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 matched headlines are actually about the company</a:t>
            </a:r>
            <a:endParaRPr lang="en-US" sz="1200" dirty="0"/>
          </a:p>
        </p:txBody>
      </p:sp>
      <p:sp>
        <p:nvSpPr>
          <p:cNvPr id="7" name="Stat neutral number"/>
          <p:cNvSpPr txBox="1"/>
          <p:nvPr/>
        </p:nvSpPr>
        <p:spPr>
          <a:xfrm>
            <a:off x="6035040" y="12344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3600" dirty="0"/>
          </a:p>
        </p:txBody>
      </p:sp>
      <p:sp>
        <p:nvSpPr>
          <p:cNvPr id="8" name="Stat neutral label"/>
          <p:cNvSpPr txBox="1"/>
          <p:nvPr/>
        </p:nvSpPr>
        <p:spPr>
          <a:xfrm>
            <a:off x="6035040" y="19476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 matched headlines score Neutral</a:t>
            </a:r>
            <a:endParaRPr lang="en-US" sz="1200" dirty="0"/>
          </a:p>
        </p:txBody>
      </p:sp>
      <p:sp>
        <p:nvSpPr>
          <p:cNvPr id="9" name="Craigslist card"/>
          <p:cNvSpPr/>
          <p:nvPr/>
        </p:nvSpPr>
        <p:spPr>
          <a:xfrm>
            <a:off x="457200" y="2834640"/>
            <a:ext cx="822960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raigslist title"/>
          <p:cNvSpPr txBox="1"/>
          <p:nvPr/>
        </p:nvSpPr>
        <p:spPr>
          <a:xfrm>
            <a:off x="685800" y="2971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 telling coefficient: negativeNewsCount = +0.41</a:t>
            </a:r>
            <a:endParaRPr lang="en-US" sz="1700" dirty="0"/>
          </a:p>
        </p:txBody>
      </p:sp>
      <p:sp>
        <p:nvSpPr>
          <p:cNvPr id="11" name="Craigslist body"/>
          <p:cNvSpPr txBox="1"/>
          <p:nvPr/>
        </p:nvSpPr>
        <p:spPr>
          <a:xfrm>
            <a:off x="685800" y="338328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Craigslist is operating, but its matched headlines are crime stories (“Craigslist killer jailed”). The lexicon correctly scores them negative, yet they say nothing about the business. Better matching, not a fancier model, is the next step.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Limitations and next steps</a:t>
            </a:r>
            <a:endParaRPr lang="en-US" sz="2800" dirty="0"/>
          </a:p>
        </p:txBody>
      </p:sp>
      <p:sp>
        <p:nvSpPr>
          <p:cNvPr id="3" name="Limits title"/>
          <p:cNvSpPr txBox="1"/>
          <p:nvPr/>
        </p:nvSpPr>
        <p:spPr>
          <a:xfrm>
            <a:off x="45720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815-startup cohort, limited by rate limits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29% matching precision (one annotator)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Lexicon: mostly neutral, no negation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borderline p-value across 8 tests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Single-node cluster</a:t>
            </a:r>
            <a:endParaRPr lang="en-US" sz="1400" dirty="0"/>
          </a:p>
        </p:txBody>
      </p:sp>
      <p:sp>
        <p:nvSpPr>
          <p:cNvPr id="5" name="Next title"/>
          <p:cNvSpPr txBox="1"/>
          <p:nvPr/>
        </p:nvSpPr>
        <p:spPr>
          <a:xfrm>
            <a:off x="475488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60020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Resume collection; it continues where it stopped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Context-aware matching (domain, founder, verbs)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Negation-aware or domain-tuned sentiment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Round-level funding data, without leakage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pre-registered test on a new cohort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 verified pipeline and an honest answer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Leak-free AUC 0.679 · news tone +0.010 (borderline) · the bottleneck is data quality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Thank you.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rtup Survival">
  <a:themeElements>
    <a:clrScheme name="Startup Survival">
      <a:dk1>
        <a:srgbClr val="1B2333"/>
      </a:dk1>
      <a:lt1>
        <a:srgbClr val="FFFFFF"/>
      </a:lt1>
      <a:dk2>
        <a:srgbClr val="142A3E"/>
      </a:dk2>
      <a:lt2>
        <a:srgbClr val="EEF2F6"/>
      </a:lt2>
      <a:accent1>
        <a:srgbClr val="1F9E74"/>
      </a:accent1>
      <a:accent2>
        <a:srgbClr val="E2574C"/>
      </a:accent2>
      <a:accent3>
        <a:srgbClr val="3D6A8F"/>
      </a:accent3>
      <a:accent4>
        <a:srgbClr val="F2B33D"/>
      </a:accent4>
      <a:accent5>
        <a:srgbClr val="8A97A8"/>
      </a:accent5>
      <a:accent6>
        <a:srgbClr val="5B4B8A"/>
      </a:accent6>
      <a:hlink>
        <a:srgbClr val="3D6A8F"/>
      </a:hlink>
      <a:folHlink>
        <a:srgbClr val="5B4B8A"/>
      </a:folHlink>
    </a:clrScheme>
    <a:fontScheme name="Startup Surviv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the Predictive Value of Public News Sentiment for Startup Survival</dc:title>
  <dc:subject>PptxGenJS Presentation</dc:subject>
  <dc:creator>B.Tech CSE Big Data Project Team</dc:creator>
  <cp:lastModifiedBy>B.Tech CSE Big Data Project Team</cp:lastModifiedBy>
  <cp:revision>1</cp:revision>
  <dcterms:created xsi:type="dcterms:W3CDTF">2026-10-27T03:40:11Z</dcterms:created>
  <dcterms:modified xsi:type="dcterms:W3CDTF">2026-10-27T03:40:11Z</dcterms:modified>
</cp:coreProperties>
</file>