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77b1046-36e8-c614-6bf2-95e1d006db89}">
          <p14:sldIdLst>
            <p14:sldId id="256"/>
            <p14:sldId id="257"/>
          </p14:sldIdLst>
        </p14:section>
        <p14:section name="Method" id="{48c4d108-f3dd-5354-7783-1ba23f8f9e9a}">
          <p14:sldIdLst>
            <p14:sldId id="258"/>
            <p14:sldId id="259"/>
            <p14:sldId id="260"/>
            <p14:sldId id="261"/>
            <p14:sldId id="262"/>
            <p14:sldId id="263"/>
            <p14:sldId id="264"/>
          </p14:sldIdLst>
        </p14:section>
        <p14:section name="Results" id="{2286cfc0-7149-86e6-2620-0b720c520664}">
          <p14:sldIdLst>
            <p14:sldId id="265"/>
            <p14:sldId id="266"/>
            <p14:sldId id="267"/>
            <p14:sldId id="268"/>
          </p14:sldIdLst>
        </p14:section>
        <p14:section name="Close" id="{df5f2b0d-79e5-331a-b538-714156bb2f2e}">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Rows</c:v>
                </c:pt>
              </c:strCache>
            </c:strRef>
          </c:tx>
          <c:spPr>
            <a:solidFill>
              <a:srgbClr val="3D6A8F"/>
            </a:solidFill>
            <a:effectLst/>
          </c:spPr>
          <c:invertIfNegative val="0"/>
          <c:dLbls>
            <c:numFmt formatCode="#,##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Sheet1!$A$2:$A$4</c:f>
              <c:multiLvlStrCache>
                <c:ptCount val="3"/>
                <c:lvl>
                  <c:pt idx="0">
                    <c:v>Raw snapshot</c:v>
                  </c:pt>
                  <c:pt idx="1">
                    <c:v>Closed or operating</c:v>
                  </c:pt>
                  <c:pt idx="2">
                    <c:v>Eligible at T</c:v>
                  </c:pt>
                </c:lvl>
              </c:multiLvlStrCache>
            </c:multiLvlStrRef>
          </c:cat>
          <c:val>
            <c:numRef>
              <c:f>Sheet1!$B$2:$B$4</c:f>
              <c:numCache>
                <c:formatCode>General</c:formatCode>
                <c:ptCount val="3"/>
                <c:pt idx="0">
                  <c:v>66368</c:v>
                </c:pt>
                <c:pt idx="1">
                  <c:v>59272</c:v>
                </c:pt>
                <c:pt idx="2">
                  <c:v>22075</c:v>
                </c:pt>
              </c:numCache>
            </c:numRef>
          </c:val>
        </c:ser>
        <c:dLbls>
          <c:numFmt formatCode="#,##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80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A97A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AUC-ROC</c:v>
                </c:pt>
              </c:strCache>
            </c:strRef>
          </c:tx>
          <c:spPr>
            <a:solidFill>
              <a:srgbClr val="3D6A8F"/>
            </a:solidFill>
            <a:effectLst/>
          </c:spPr>
          <c:invertIfNegative val="0"/>
          <c:dLbls>
            <c:numFmt formatCode="0.00" sourceLinked="0"/>
            <c:txPr>
              <a:bodyPr/>
              <a:lstStyle/>
              <a:p>
                <a:pPr>
                  <a:defRPr b="0" i="0" strike="noStrike" sz="900" u="none">
                    <a:solidFill>
                      <a:srgbClr val="1B2333"/>
                    </a:solidFill>
                    <a:latin typeface="+mn-lt"/>
                  </a:defRPr>
                </a:pPr>
              </a:p>
            </c:txPr>
            <c:showLegendKey val="0"/>
            <c:showVal val="1"/>
            <c:showCatName val="0"/>
            <c:showSerName val="0"/>
            <c:showPercent val="0"/>
            <c:showBubbleSize val="0"/>
            <c:showLeaderLines val="0"/>
          </c:dLbls>
          <c:cat>
            <c:multiLvlStrRef>
              <c:f>Sheet1!$A$2:$A$5</c:f>
              <c:multiLvlStrCache>
                <c:ptCount val="4"/>
                <c:lvl>
                  <c:pt idx="0">
                    <c:v>E1 LR · Fin</c:v>
                  </c:pt>
                  <c:pt idx="1">
                    <c:v>E3 LR · Fin+Sent</c:v>
                  </c:pt>
                  <c:pt idx="2">
                    <c:v>E2 SVM · Fin</c:v>
                  </c:pt>
                  <c:pt idx="3">
                    <c:v>E4 SVM · Fin+Sent</c:v>
                  </c:pt>
                </c:lvl>
              </c:multiLvlStrCache>
            </c:multiLvlStrRef>
          </c:cat>
          <c:val>
            <c:numRef>
              <c:f>Sheet1!$B$2:$B$5</c:f>
              <c:numCache>
                <c:formatCode>General</c:formatCode>
                <c:ptCount val="4"/>
                <c:pt idx="0">
                  <c:v>0.7081</c:v>
                </c:pt>
                <c:pt idx="1">
                  <c:v>0.7081</c:v>
                </c:pt>
                <c:pt idx="2">
                  <c:v>0.7256</c:v>
                </c:pt>
                <c:pt idx="3">
                  <c:v>0.7261</c:v>
                </c:pt>
              </c:numCache>
            </c:numRef>
          </c:val>
        </c:ser>
        <c:ser>
          <c:idx val="1"/>
          <c:order val="1"/>
          <c:tx>
            <c:strRef>
              <c:f>Sheet1!$C$1</c:f>
              <c:strCache>
                <c:ptCount val="1"/>
                <c:pt idx="0">
                  <c:v>F1 (closed)</c:v>
                </c:pt>
              </c:strCache>
            </c:strRef>
          </c:tx>
          <c:spPr>
            <a:solidFill>
              <a:srgbClr val="E2574C"/>
            </a:solidFill>
            <a:effectLst/>
          </c:spPr>
          <c:invertIfNegative val="0"/>
          <c:dLbls>
            <c:numFmt formatCode="0.00" sourceLinked="0"/>
            <c:txPr>
              <a:bodyPr/>
              <a:lstStyle/>
              <a:p>
                <a:pPr>
                  <a:defRPr b="0" i="0" strike="noStrike" sz="900" u="none">
                    <a:solidFill>
                      <a:srgbClr val="1B2333"/>
                    </a:solidFill>
                    <a:latin typeface="+mn-lt"/>
                  </a:defRPr>
                </a:pPr>
              </a:p>
            </c:txPr>
            <c:showLegendKey val="0"/>
            <c:showVal val="1"/>
            <c:showCatName val="0"/>
            <c:showSerName val="0"/>
            <c:showPercent val="0"/>
            <c:showBubbleSize val="0"/>
            <c:showLeaderLines val="0"/>
          </c:dLbls>
          <c:cat>
            <c:multiLvlStrRef>
              <c:f>Sheet1!$A$2:$A$5</c:f>
              <c:multiLvlStrCache>
                <c:ptCount val="4"/>
                <c:lvl>
                  <c:pt idx="0">
                    <c:v>E1 LR · Fin</c:v>
                  </c:pt>
                  <c:pt idx="1">
                    <c:v>E3 LR · Fin+Sent</c:v>
                  </c:pt>
                  <c:pt idx="2">
                    <c:v>E2 SVM · Fin</c:v>
                  </c:pt>
                  <c:pt idx="3">
                    <c:v>E4 SVM · Fin+Sent</c:v>
                  </c:pt>
                </c:lvl>
              </c:multiLvlStrCache>
            </c:multiLvlStrRef>
          </c:cat>
          <c:val>
            <c:numRef>
              <c:f>Sheet1!$C$2:$C$5</c:f>
              <c:numCache>
                <c:formatCode>General</c:formatCode>
                <c:ptCount val="4"/>
                <c:pt idx="0">
                  <c:v>0.3136</c:v>
                </c:pt>
                <c:pt idx="1">
                  <c:v>0.3131</c:v>
                </c:pt>
                <c:pt idx="2">
                  <c:v>0.2858</c:v>
                </c:pt>
                <c:pt idx="3">
                  <c:v>0.2858</c:v>
                </c:pt>
              </c:numCache>
            </c:numRef>
          </c:val>
        </c:ser>
        <c:ser>
          <c:idx val="2"/>
          <c:order val="2"/>
          <c:tx>
            <c:strRef>
              <c:f>Sheet1!$D$1</c:f>
              <c:strCache>
                <c:ptCount val="1"/>
                <c:pt idx="0">
                  <c:v>Recall (closed)</c:v>
                </c:pt>
              </c:strCache>
            </c:strRef>
          </c:tx>
          <c:spPr>
            <a:solidFill>
              <a:srgbClr val="1F9E74"/>
            </a:solidFill>
            <a:effectLst/>
          </c:spPr>
          <c:invertIfNegative val="0"/>
          <c:dLbls>
            <c:numFmt formatCode="0.00" sourceLinked="0"/>
            <c:txPr>
              <a:bodyPr/>
              <a:lstStyle/>
              <a:p>
                <a:pPr>
                  <a:defRPr b="0" i="0" strike="noStrike" sz="900" u="none">
                    <a:solidFill>
                      <a:srgbClr val="1B2333"/>
                    </a:solidFill>
                    <a:latin typeface="+mn-lt"/>
                  </a:defRPr>
                </a:pPr>
              </a:p>
            </c:txPr>
            <c:showLegendKey val="0"/>
            <c:showVal val="1"/>
            <c:showCatName val="0"/>
            <c:showSerName val="0"/>
            <c:showPercent val="0"/>
            <c:showBubbleSize val="0"/>
            <c:showLeaderLines val="0"/>
          </c:dLbls>
          <c:cat>
            <c:multiLvlStrRef>
              <c:f>Sheet1!$A$2:$A$5</c:f>
              <c:multiLvlStrCache>
                <c:ptCount val="4"/>
                <c:lvl>
                  <c:pt idx="0">
                    <c:v>E1 LR · Fin</c:v>
                  </c:pt>
                  <c:pt idx="1">
                    <c:v>E3 LR · Fin+Sent</c:v>
                  </c:pt>
                  <c:pt idx="2">
                    <c:v>E2 SVM · Fin</c:v>
                  </c:pt>
                  <c:pt idx="3">
                    <c:v>E4 SVM · Fin+Sent</c:v>
                  </c:pt>
                </c:lvl>
              </c:multiLvlStrCache>
            </c:multiLvlStrRef>
          </c:cat>
          <c:val>
            <c:numRef>
              <c:f>Sheet1!$D$2:$D$5</c:f>
              <c:numCache>
                <c:formatCode>General</c:formatCode>
                <c:ptCount val="4"/>
                <c:pt idx="0">
                  <c:v>0.8471</c:v>
                </c:pt>
                <c:pt idx="1">
                  <c:v>0.8453</c:v>
                </c:pt>
                <c:pt idx="2">
                  <c:v>0.9173</c:v>
                </c:pt>
                <c:pt idx="3">
                  <c:v>0.9173</c:v>
                </c:pt>
              </c:numCache>
            </c:numRef>
          </c:val>
        </c:ser>
        <c:dLbls>
          <c:numFmt formatCode="0.00" sourceLinked="0"/>
          <c:txPr>
            <a:bodyPr/>
            <a:lstStyle/>
            <a:p>
              <a:pPr>
                <a:defRPr b="0" i="0" strike="noStrike" sz="900" u="none">
                  <a:solidFill>
                    <a:srgbClr val="1B2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E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97A8"/>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B2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Logistic Regression (E1)</c:v>
                </c:pt>
              </c:strCache>
            </c:strRef>
          </c:tx>
          <c:spPr>
            <a:solidFill>
              <a:srgbClr val="3D6A8F"/>
            </a:solidFill>
            <a:effectLst/>
          </c:spPr>
          <c:invertIfNegative val="0"/>
          <c:dLbls>
            <c:numFmt formatCode="0.00" sourceLinked="0"/>
            <c:txPr>
              <a:bodyPr/>
              <a:lstStyle/>
              <a:p>
                <a:pPr>
                  <a:defRPr b="0" i="0" strike="noStrike" sz="900" u="none">
                    <a:solidFill>
                      <a:srgbClr val="1B2333"/>
                    </a:solidFill>
                    <a:latin typeface="+mn-lt"/>
                  </a:defRPr>
                </a:pPr>
              </a:p>
            </c:txPr>
            <c:showLegendKey val="0"/>
            <c:showVal val="1"/>
            <c:showCatName val="0"/>
            <c:showSerName val="0"/>
            <c:showPercent val="0"/>
            <c:showBubbleSize val="0"/>
            <c:showLeaderLines val="0"/>
          </c:dLbls>
          <c:cat>
            <c:multiLvlStrRef>
              <c:f>Sheet1!$A$2:$A$6</c:f>
              <c:multiLvlStrCache>
                <c:ptCount val="5"/>
                <c:lvl>
                  <c:pt idx="0">
                    <c:v>AUC</c:v>
                  </c:pt>
                  <c:pt idx="1">
                    <c:v>Balanced acc.</c:v>
                  </c:pt>
                  <c:pt idx="2">
                    <c:v>Recall closed</c:v>
                  </c:pt>
                  <c:pt idx="3">
                    <c:v>Recall operating</c:v>
                  </c:pt>
                  <c:pt idx="4">
                    <c:v>F1 closed</c:v>
                  </c:pt>
                </c:lvl>
              </c:multiLvlStrCache>
            </c:multiLvlStrRef>
          </c:cat>
          <c:val>
            <c:numRef>
              <c:f>Sheet1!$B$2:$B$6</c:f>
              <c:numCache>
                <c:formatCode>General</c:formatCode>
                <c:ptCount val="5"/>
                <c:pt idx="0">
                  <c:v>0.7081</c:v>
                </c:pt>
                <c:pt idx="1">
                  <c:v>0.6625</c:v>
                </c:pt>
                <c:pt idx="2">
                  <c:v>0.8471</c:v>
                </c:pt>
                <c:pt idx="3">
                  <c:v>0.478</c:v>
                </c:pt>
                <c:pt idx="4">
                  <c:v>0.3136</c:v>
                </c:pt>
              </c:numCache>
            </c:numRef>
          </c:val>
        </c:ser>
        <c:ser>
          <c:idx val="1"/>
          <c:order val="1"/>
          <c:tx>
            <c:strRef>
              <c:f>Sheet1!$C$1</c:f>
              <c:strCache>
                <c:ptCount val="1"/>
                <c:pt idx="0">
                  <c:v>Linear SVM (E2)</c:v>
                </c:pt>
              </c:strCache>
            </c:strRef>
          </c:tx>
          <c:spPr>
            <a:solidFill>
              <a:srgbClr val="5B4B8A"/>
            </a:solidFill>
            <a:effectLst/>
          </c:spPr>
          <c:invertIfNegative val="0"/>
          <c:dLbls>
            <c:numFmt formatCode="0.00" sourceLinked="0"/>
            <c:txPr>
              <a:bodyPr/>
              <a:lstStyle/>
              <a:p>
                <a:pPr>
                  <a:defRPr b="0" i="0" strike="noStrike" sz="900" u="none">
                    <a:solidFill>
                      <a:srgbClr val="1B2333"/>
                    </a:solidFill>
                    <a:latin typeface="+mn-lt"/>
                  </a:defRPr>
                </a:pPr>
              </a:p>
            </c:txPr>
            <c:showLegendKey val="0"/>
            <c:showVal val="1"/>
            <c:showCatName val="0"/>
            <c:showSerName val="0"/>
            <c:showPercent val="0"/>
            <c:showBubbleSize val="0"/>
            <c:showLeaderLines val="0"/>
          </c:dLbls>
          <c:cat>
            <c:multiLvlStrRef>
              <c:f>Sheet1!$A$2:$A$6</c:f>
              <c:multiLvlStrCache>
                <c:ptCount val="5"/>
                <c:lvl>
                  <c:pt idx="0">
                    <c:v>AUC</c:v>
                  </c:pt>
                  <c:pt idx="1">
                    <c:v>Balanced acc.</c:v>
                  </c:pt>
                  <c:pt idx="2">
                    <c:v>Recall closed</c:v>
                  </c:pt>
                  <c:pt idx="3">
                    <c:v>Recall operating</c:v>
                  </c:pt>
                  <c:pt idx="4">
                    <c:v>F1 closed</c:v>
                  </c:pt>
                </c:lvl>
              </c:multiLvlStrCache>
            </c:multiLvlStrRef>
          </c:cat>
          <c:val>
            <c:numRef>
              <c:f>Sheet1!$C$2:$C$6</c:f>
              <c:numCache>
                <c:formatCode>General</c:formatCode>
                <c:ptCount val="5"/>
                <c:pt idx="0">
                  <c:v>0.7256</c:v>
                </c:pt>
                <c:pt idx="1">
                  <c:v>0.6282</c:v>
                </c:pt>
                <c:pt idx="2">
                  <c:v>0.9173</c:v>
                </c:pt>
                <c:pt idx="3">
                  <c:v>0.3391</c:v>
                </c:pt>
                <c:pt idx="4">
                  <c:v>0.2858</c:v>
                </c:pt>
              </c:numCache>
            </c:numRef>
          </c:val>
        </c:ser>
        <c:dLbls>
          <c:numFmt formatCode="0.00" sourceLinked="0"/>
          <c:txPr>
            <a:bodyPr/>
            <a:lstStyle/>
            <a:p>
              <a:pPr>
                <a:defRPr b="0" i="0" strike="noStrike" sz="900" u="none">
                  <a:solidFill>
                    <a:srgbClr val="1B2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E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97A8"/>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B23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question. We test whether public news sentiment adds predictive value over funding data, and we build the whole thing on the course's Big Data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conclusion first. Financial data gives AUC around 0.71 to 0.73. Adding sentiment changed 2 of 8,686 test predictions. That is inconclusive because only 3 startups had news. LR versus SVM is a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Labels date from about 2014. If we collect news today, articles saying a company shut down give away the answer. So one cutoff, January 1, 2013, governs everything. News is filtered at collection and again at aggregation.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66,368 raw rows. Acquired and IPO companies are excluded because an acquisition can mean success or failure. Requiring founding and first funding before the cutoff leaves 22,075 startups, 13% closed. That imbalance matters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technology maps to a real stage. HDFS stores data, Hive gives the structured table, Scala does the functional text processing, Spark joins and aggregates, and MLlib trains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B is exactly set A plus 12 sentiment features, so any difference between experiments is due to sentiment alone. Missing values are imputed as 0 and always paired with an indicator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score can be explained by the matched words: raises, funding and expands give plus 3. It is built from immutable sets, foldLeft and pattern matching. Be upfront about the negation and stemming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inner join would keep only the 3 startups with news. A left outer join keeps everyone. We persist the joined RDD because both feature sets reuse it, so Spark doesn't recompute the lineage from HDFS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87% operating, a model that always says operating looks good and is useless, and our first run did exactly that. Balanced class weights fix it. They are computed on the training split only, to avoid leakage.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each model, adding sentiment gives near-identical bars: E1 equals E3 and E2 equals E4. Between models there is a real difference. The SVM catches more closures with a slightly higher AUC, and LR has a better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to explain carefully. The null difference does not mean sentiment is useless. With only 3 startups covered, sentiment had nothing to contribute. The fix is batch collection.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AUC measures ranking across all thresholds, while accuracy and F1 measure one threshold. The SVM ranks slightly better, but its default threshold is too aggressive. We deliberately did not tune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 this before the examiner does. The leakage-safe flag itself tells the model that a funding round happened after the cutoff. We spotted it from the coefficients and documented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limitation has a matching next step. The first next step, batch collection, is what turns this from a verified pipeline into an answered research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summarising. The whole stack works end to end on real data, we were honest about what the results can and cannot show, and the path to answering the question is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971800"/>
            <a:ext cx="8046720" cy="109728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3" name="Text 0"/>
          <p:cNvSpPr txBox="1"/>
          <p:nvPr/>
        </p:nvSpPr>
        <p:spPr>
          <a:xfrm>
            <a:off x="457200" y="4754880"/>
            <a:ext cx="5486400" cy="274320"/>
          </a:xfrm>
          <a:prstGeom prst="rect">
            <a:avLst/>
          </a:prstGeom>
          <a:noFill/>
          <a:ln/>
        </p:spPr>
        <p:txBody>
          <a:bodyPr wrap="square" rtlCol="0" anchor="ctr"/>
          <a:lstStyle/>
          <a:p>
            <a:pPr indent="0" marL="0">
              <a:buNone/>
            </a:pPr>
            <a:r>
              <a:rPr lang="en-US" sz="1000" dirty="0">
                <a:solidFill>
                  <a:schemeClr val="accent5"/>
                </a:solidFill>
              </a:rPr>
              <a:t>Startup Survival · Big Data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743200"/>
            <a:ext cx="8046720" cy="91440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463040"/>
          </a:xfrm>
          <a:prstGeom prst="rect">
            <a:avLst/>
          </a:prstGeom>
          <a:noFill/>
          <a:ln/>
        </p:spPr>
        <p:txBody>
          <a:bodyPr wrap="square" rtlCol="0" anchor="b"/>
          <a:lstStyle/>
          <a:p>
            <a:pPr algn="l" indent="0" marL="0">
              <a:buNone/>
            </a:pPr>
            <a:r>
              <a:rPr lang="en-US" sz="3400" b="1" dirty="0">
                <a:solidFill>
                  <a:schemeClr val="bg1"/>
                </a:solidFill>
              </a:rPr>
              <a:t>Does News Sentiment Predict Startup Survival?</a:t>
            </a:r>
            <a:endParaRPr lang="en-US" sz="3400" dirty="0"/>
          </a:p>
        </p:txBody>
      </p:sp>
      <p:sp>
        <p:nvSpPr>
          <p:cNvPr id="3" name="Text 0"/>
          <p:cNvSpPr/>
          <p:nvPr>
            <p:ph idx="101" type="body" hasCustomPrompt="1"/>
          </p:nvPr>
        </p:nvSpPr>
        <p:spPr>
          <a:xfrm>
            <a:off x="548640" y="2971800"/>
            <a:ext cx="8046720" cy="1097280"/>
          </a:xfrm>
          <a:prstGeom prst="rect">
            <a:avLst/>
          </a:prstGeom>
          <a:noFill/>
          <a:ln/>
        </p:spPr>
        <p:txBody>
          <a:bodyPr wrap="square" rtlCol="0" anchor="t"/>
          <a:lstStyle/>
          <a:p>
            <a:pPr indent="0" marL="0">
              <a:buNone/>
            </a:pPr>
            <a:r>
              <a:rPr lang="en-US" sz="1600" dirty="0">
                <a:solidFill>
                  <a:schemeClr val="bg2"/>
                </a:solidFill>
              </a:rPr>
              <a:t>A controlled 2×2 experiment on 22,075 startups with HDFS, Hive, Scala, Spark RDDs and MLlib</a:t>
            </a:r>
            <a:endParaRPr lang="en-US" sz="1600" dirty="0"/>
          </a:p>
          <a:p>
            <a:pPr indent="0" marL="0">
              <a:buNone/>
            </a:pPr>
            <a:r>
              <a:rPr lang="en-US" sz="1600" dirty="0">
                <a:solidFill>
                  <a:schemeClr val="bg2"/>
                </a:solidFill>
              </a:rPr>
              <a:t>B.Tech CSE · End-Semester Big Data Project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rPr>
              <a:t>The answer up front</a:t>
            </a:r>
            <a:endParaRPr lang="en-US" sz="2800" dirty="0"/>
          </a:p>
        </p:txBody>
      </p:sp>
      <p:sp>
        <p:nvSpPr>
          <p:cNvPr id="3" name="Card financial"/>
          <p:cNvSpPr/>
          <p:nvPr/>
        </p:nvSpPr>
        <p:spPr>
          <a:xfrm>
            <a:off x="457200" y="1188720"/>
            <a:ext cx="2606040" cy="1828800"/>
          </a:xfrm>
          <a:prstGeom prst="roundRect">
            <a:avLst>
              <a:gd name="adj" fmla="val 4000"/>
            </a:avLst>
          </a:prstGeom>
          <a:solidFill>
            <a:schemeClr val="bg2"/>
          </a:solidFill>
          <a:ln w="12700">
            <a:solidFill>
              <a:schemeClr val="bg2"/>
            </a:solidFill>
            <a:prstDash val="solid"/>
          </a:ln>
        </p:spPr>
      </p:sp>
      <p:sp>
        <p:nvSpPr>
          <p:cNvPr id="4" name="Card sentiment"/>
          <p:cNvSpPr/>
          <p:nvPr/>
        </p:nvSpPr>
        <p:spPr>
          <a:xfrm>
            <a:off x="3268980" y="1188720"/>
            <a:ext cx="2606040" cy="1828800"/>
          </a:xfrm>
          <a:prstGeom prst="roundRect">
            <a:avLst>
              <a:gd name="adj" fmla="val 4000"/>
            </a:avLst>
          </a:prstGeom>
          <a:solidFill>
            <a:schemeClr val="bg2"/>
          </a:solidFill>
          <a:ln w="12700">
            <a:solidFill>
              <a:schemeClr val="bg2"/>
            </a:solidFill>
            <a:prstDash val="solid"/>
          </a:ln>
        </p:spPr>
      </p:sp>
      <p:sp>
        <p:nvSpPr>
          <p:cNvPr id="5" name="Card model"/>
          <p:cNvSpPr/>
          <p:nvPr/>
        </p:nvSpPr>
        <p:spPr>
          <a:xfrm>
            <a:off x="6080760" y="1188720"/>
            <a:ext cx="2606040" cy="1828800"/>
          </a:xfrm>
          <a:prstGeom prst="roundRect">
            <a:avLst>
              <a:gd name="adj" fmla="val 4000"/>
            </a:avLst>
          </a:prstGeom>
          <a:solidFill>
            <a:schemeClr val="bg2"/>
          </a:solidFill>
          <a:ln w="12700">
            <a:solidFill>
              <a:schemeClr val="bg2"/>
            </a:solidFill>
            <a:prstDash val="solid"/>
          </a:ln>
        </p:spPr>
      </p:sp>
      <p:sp>
        <p:nvSpPr>
          <p:cNvPr id="6" name="Stat AUC number"/>
          <p:cNvSpPr txBox="1"/>
          <p:nvPr/>
        </p:nvSpPr>
        <p:spPr>
          <a:xfrm>
            <a:off x="685800" y="1371600"/>
            <a:ext cx="2194560" cy="68580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0.71–0.73</a:t>
            </a:r>
            <a:endParaRPr lang="en-US" sz="3000" dirty="0"/>
          </a:p>
        </p:txBody>
      </p:sp>
      <p:sp>
        <p:nvSpPr>
          <p:cNvPr id="7" name="Stat AUC label"/>
          <p:cNvSpPr txBox="1"/>
          <p:nvPr/>
        </p:nvSpPr>
        <p:spPr>
          <a:xfrm>
            <a:off x="685800" y="2084832"/>
            <a:ext cx="2194560" cy="548640"/>
          </a:xfrm>
          <a:prstGeom prst="rect">
            <a:avLst/>
          </a:prstGeom>
          <a:noFill/>
          <a:ln/>
        </p:spPr>
        <p:txBody>
          <a:bodyPr wrap="square" lIns="0" tIns="0" rIns="0" bIns="0" rtlCol="0" anchor="t"/>
          <a:lstStyle/>
          <a:p>
            <a:pPr indent="0" marL="0">
              <a:buNone/>
            </a:pPr>
            <a:r>
              <a:rPr lang="en-US" sz="1200" dirty="0">
                <a:solidFill>
                  <a:schemeClr val="tx1"/>
                </a:solidFill>
              </a:rPr>
              <a:t>AUC from financial features alone: real but moderate signal</a:t>
            </a:r>
            <a:endParaRPr lang="en-US" sz="1200" dirty="0"/>
          </a:p>
        </p:txBody>
      </p:sp>
      <p:sp>
        <p:nvSpPr>
          <p:cNvPr id="8" name="Stat changed number"/>
          <p:cNvSpPr txBox="1"/>
          <p:nvPr/>
        </p:nvSpPr>
        <p:spPr>
          <a:xfrm>
            <a:off x="3497580" y="1371600"/>
            <a:ext cx="2194560" cy="68580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 / 8,686</a:t>
            </a:r>
            <a:endParaRPr lang="en-US" sz="3000" dirty="0"/>
          </a:p>
        </p:txBody>
      </p:sp>
      <p:sp>
        <p:nvSpPr>
          <p:cNvPr id="9" name="Stat changed label"/>
          <p:cNvSpPr txBox="1"/>
          <p:nvPr/>
        </p:nvSpPr>
        <p:spPr>
          <a:xfrm>
            <a:off x="3497580" y="2084832"/>
            <a:ext cx="2194560" cy="548640"/>
          </a:xfrm>
          <a:prstGeom prst="rect">
            <a:avLst/>
          </a:prstGeom>
          <a:noFill/>
          <a:ln/>
        </p:spPr>
        <p:txBody>
          <a:bodyPr wrap="square" lIns="0" tIns="0" rIns="0" bIns="0" rtlCol="0" anchor="t"/>
          <a:lstStyle/>
          <a:p>
            <a:pPr indent="0" marL="0">
              <a:buNone/>
            </a:pPr>
            <a:r>
              <a:rPr lang="en-US" sz="1200" dirty="0">
                <a:solidFill>
                  <a:schemeClr val="tx1"/>
                </a:solidFill>
              </a:rPr>
              <a:t>test predictions changed by adding sentiment</a:t>
            </a:r>
            <a:endParaRPr lang="en-US" sz="1200" dirty="0"/>
          </a:p>
        </p:txBody>
      </p:sp>
      <p:sp>
        <p:nvSpPr>
          <p:cNvPr id="10" name="Stat model number"/>
          <p:cNvSpPr txBox="1"/>
          <p:nvPr/>
        </p:nvSpPr>
        <p:spPr>
          <a:xfrm>
            <a:off x="6309360" y="1371600"/>
            <a:ext cx="2194560" cy="68580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LR ≈ SVM</a:t>
            </a:r>
            <a:endParaRPr lang="en-US" sz="3000" dirty="0"/>
          </a:p>
        </p:txBody>
      </p:sp>
      <p:sp>
        <p:nvSpPr>
          <p:cNvPr id="11" name="Stat model label"/>
          <p:cNvSpPr txBox="1"/>
          <p:nvPr/>
        </p:nvSpPr>
        <p:spPr>
          <a:xfrm>
            <a:off x="6309360" y="2084832"/>
            <a:ext cx="2194560" cy="548640"/>
          </a:xfrm>
          <a:prstGeom prst="rect">
            <a:avLst/>
          </a:prstGeom>
          <a:noFill/>
          <a:ln/>
        </p:spPr>
        <p:txBody>
          <a:bodyPr wrap="square" lIns="0" tIns="0" rIns="0" bIns="0" rtlCol="0" anchor="t"/>
          <a:lstStyle/>
          <a:p>
            <a:pPr indent="0" marL="0">
              <a:buNone/>
            </a:pPr>
            <a:r>
              <a:rPr lang="en-US" sz="1200" dirty="0">
                <a:solidFill>
                  <a:schemeClr val="tx1"/>
                </a:solidFill>
              </a:rPr>
              <a:t>LR is better balanced; SVM ranks slightly better</a:t>
            </a:r>
            <a:endParaRPr lang="en-US" sz="1200" dirty="0"/>
          </a:p>
        </p:txBody>
      </p:sp>
      <p:sp>
        <p:nvSpPr>
          <p:cNvPr id="12" name="Takeaway"/>
          <p:cNvSpPr txBox="1"/>
          <p:nvPr/>
        </p:nvSpPr>
        <p:spPr>
          <a:xfrm>
            <a:off x="457200" y="3337560"/>
            <a:ext cx="8229600" cy="914400"/>
          </a:xfrm>
          <a:prstGeom prst="rect">
            <a:avLst/>
          </a:prstGeom>
          <a:noFill/>
          <a:ln/>
        </p:spPr>
        <p:txBody>
          <a:bodyPr wrap="square" lIns="0" tIns="0" rIns="0" bIns="0" rtlCol="0" anchor="t"/>
          <a:lstStyle/>
          <a:p>
            <a:pPr indent="0" marL="0">
              <a:buNone/>
            </a:pPr>
            <a:r>
              <a:rPr lang="en-US" sz="1800" i="1" dirty="0">
                <a:solidFill>
                  <a:schemeClr val="tx2"/>
                </a:solidFill>
              </a:rPr>
              <a:t>Sentiment's value is untested, not disproven: only 3 of 22,075 startups had matched pre-2013 news.</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rPr>
              <a:t>The core risk: information from the future</a:t>
            </a:r>
            <a:endParaRPr lang="en-US" sz="2800" dirty="0"/>
          </a:p>
        </p:txBody>
      </p:sp>
      <p:sp>
        <p:nvSpPr>
          <p:cNvPr id="3" name="Timeline axis"/>
          <p:cNvSpPr/>
          <p:nvPr/>
        </p:nvSpPr>
        <p:spPr>
          <a:xfrm>
            <a:off x="731520" y="2194560"/>
            <a:ext cx="7680960" cy="0"/>
          </a:xfrm>
          <a:prstGeom prst="line">
            <a:avLst/>
          </a:prstGeom>
          <a:noFill/>
          <a:ln w="25400">
            <a:solidFill>
              <a:srgbClr val="8A97A8"/>
            </a:solidFill>
            <a:prstDash val="solid"/>
          </a:ln>
        </p:spPr>
      </p:sp>
      <p:sp>
        <p:nvSpPr>
          <p:cNvPr id="4" name="Timeline dot 1"/>
          <p:cNvSpPr/>
          <p:nvPr/>
        </p:nvSpPr>
        <p:spPr>
          <a:xfrm>
            <a:off x="969264" y="2066544"/>
            <a:ext cx="256032" cy="256032"/>
          </a:xfrm>
          <a:prstGeom prst="ellipse">
            <a:avLst/>
          </a:prstGeom>
          <a:solidFill>
            <a:schemeClr val="accent3"/>
          </a:solidFill>
          <a:ln w="12700">
            <a:solidFill>
              <a:schemeClr val="accent3"/>
            </a:solidFill>
            <a:prstDash val="solid"/>
          </a:ln>
        </p:spPr>
      </p:sp>
      <p:sp>
        <p:nvSpPr>
          <p:cNvPr id="5" name="Timeline year 1"/>
          <p:cNvSpPr txBox="1"/>
          <p:nvPr/>
        </p:nvSpPr>
        <p:spPr>
          <a:xfrm>
            <a:off x="365760" y="1417320"/>
            <a:ext cx="1463040" cy="365760"/>
          </a:xfrm>
          <a:prstGeom prst="rect">
            <a:avLst/>
          </a:prstGeom>
          <a:noFill/>
          <a:ln/>
        </p:spPr>
        <p:txBody>
          <a:bodyPr wrap="square" lIns="0" tIns="0" rIns="0" bIns="0" rtlCol="0" anchor="t"/>
          <a:lstStyle/>
          <a:p>
            <a:pPr algn="ctr" indent="0" marL="0">
              <a:buNone/>
            </a:pPr>
            <a:r>
              <a:rPr lang="en-US" sz="1600" b="1" dirty="0">
                <a:solidFill>
                  <a:schemeClr val="tx2"/>
                </a:solidFill>
              </a:rPr>
              <a:t>2011</a:t>
            </a:r>
            <a:endParaRPr lang="en-US" sz="1600" dirty="0"/>
          </a:p>
        </p:txBody>
      </p:sp>
      <p:sp>
        <p:nvSpPr>
          <p:cNvPr id="6" name="Timeline label 1"/>
          <p:cNvSpPr txBox="1"/>
          <p:nvPr/>
        </p:nvSpPr>
        <p:spPr>
          <a:xfrm>
            <a:off x="365760" y="246888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News window opens</a:t>
            </a:r>
            <a:endParaRPr lang="en-US" sz="1200" dirty="0"/>
          </a:p>
        </p:txBody>
      </p:sp>
      <p:sp>
        <p:nvSpPr>
          <p:cNvPr id="7" name="Timeline dot 2"/>
          <p:cNvSpPr/>
          <p:nvPr/>
        </p:nvSpPr>
        <p:spPr>
          <a:xfrm>
            <a:off x="3163824" y="2066544"/>
            <a:ext cx="256032" cy="256032"/>
          </a:xfrm>
          <a:prstGeom prst="ellipse">
            <a:avLst/>
          </a:prstGeom>
          <a:solidFill>
            <a:schemeClr val="accent2"/>
          </a:solidFill>
          <a:ln w="12700">
            <a:solidFill>
              <a:schemeClr val="accent2"/>
            </a:solidFill>
            <a:prstDash val="solid"/>
          </a:ln>
        </p:spPr>
      </p:sp>
      <p:sp>
        <p:nvSpPr>
          <p:cNvPr id="8" name="Timeline year 2"/>
          <p:cNvSpPr txBox="1"/>
          <p:nvPr/>
        </p:nvSpPr>
        <p:spPr>
          <a:xfrm>
            <a:off x="2560320" y="1417320"/>
            <a:ext cx="1463040" cy="365760"/>
          </a:xfrm>
          <a:prstGeom prst="rect">
            <a:avLst/>
          </a:prstGeom>
          <a:noFill/>
          <a:ln/>
        </p:spPr>
        <p:txBody>
          <a:bodyPr wrap="square" lIns="0" tIns="0" rIns="0" bIns="0" rtlCol="0" anchor="t"/>
          <a:lstStyle/>
          <a:p>
            <a:pPr algn="ctr" indent="0" marL="0">
              <a:buNone/>
            </a:pPr>
            <a:r>
              <a:rPr lang="en-US" sz="1600" b="1" dirty="0">
                <a:solidFill>
                  <a:schemeClr val="tx2"/>
                </a:solidFill>
              </a:rPr>
              <a:t>2013-01-01</a:t>
            </a:r>
            <a:endParaRPr lang="en-US" sz="1600" dirty="0"/>
          </a:p>
        </p:txBody>
      </p:sp>
      <p:sp>
        <p:nvSpPr>
          <p:cNvPr id="9" name="Timeline label 2"/>
          <p:cNvSpPr txBox="1"/>
          <p:nvPr/>
        </p:nvSpPr>
        <p:spPr>
          <a:xfrm>
            <a:off x="2560320" y="246888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Prediction cutoff T</a:t>
            </a:r>
            <a:endParaRPr lang="en-US" sz="1200" dirty="0"/>
          </a:p>
        </p:txBody>
      </p:sp>
      <p:sp>
        <p:nvSpPr>
          <p:cNvPr id="10" name="Timeline dot 3"/>
          <p:cNvSpPr/>
          <p:nvPr/>
        </p:nvSpPr>
        <p:spPr>
          <a:xfrm>
            <a:off x="5175504" y="2066544"/>
            <a:ext cx="256032" cy="256032"/>
          </a:xfrm>
          <a:prstGeom prst="ellipse">
            <a:avLst/>
          </a:prstGeom>
          <a:solidFill>
            <a:schemeClr val="accent3"/>
          </a:solidFill>
          <a:ln w="12700">
            <a:solidFill>
              <a:schemeClr val="accent3"/>
            </a:solidFill>
            <a:prstDash val="solid"/>
          </a:ln>
        </p:spPr>
      </p:sp>
      <p:sp>
        <p:nvSpPr>
          <p:cNvPr id="11" name="Timeline year 3"/>
          <p:cNvSpPr txBox="1"/>
          <p:nvPr/>
        </p:nvSpPr>
        <p:spPr>
          <a:xfrm>
            <a:off x="4572000" y="1417320"/>
            <a:ext cx="1463040" cy="365760"/>
          </a:xfrm>
          <a:prstGeom prst="rect">
            <a:avLst/>
          </a:prstGeom>
          <a:noFill/>
          <a:ln/>
        </p:spPr>
        <p:txBody>
          <a:bodyPr wrap="square" lIns="0" tIns="0" rIns="0" bIns="0" rtlCol="0" anchor="t"/>
          <a:lstStyle/>
          <a:p>
            <a:pPr algn="ctr" indent="0" marL="0">
              <a:buNone/>
            </a:pPr>
            <a:r>
              <a:rPr lang="en-US" sz="1600" b="1" dirty="0">
                <a:solidFill>
                  <a:schemeClr val="tx2"/>
                </a:solidFill>
              </a:rPr>
              <a:t>~2014</a:t>
            </a:r>
            <a:endParaRPr lang="en-US" sz="1600" dirty="0"/>
          </a:p>
        </p:txBody>
      </p:sp>
      <p:sp>
        <p:nvSpPr>
          <p:cNvPr id="12" name="Timeline label 3"/>
          <p:cNvSpPr txBox="1"/>
          <p:nvPr/>
        </p:nvSpPr>
        <p:spPr>
          <a:xfrm>
            <a:off x="4572000" y="246888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Crunchbase status = label</a:t>
            </a:r>
            <a:endParaRPr lang="en-US" sz="1200" dirty="0"/>
          </a:p>
        </p:txBody>
      </p:sp>
      <p:sp>
        <p:nvSpPr>
          <p:cNvPr id="13" name="Timeline dot 4"/>
          <p:cNvSpPr/>
          <p:nvPr/>
        </p:nvSpPr>
        <p:spPr>
          <a:xfrm>
            <a:off x="7552944" y="2066544"/>
            <a:ext cx="256032" cy="256032"/>
          </a:xfrm>
          <a:prstGeom prst="ellipse">
            <a:avLst/>
          </a:prstGeom>
          <a:solidFill>
            <a:schemeClr val="accent5"/>
          </a:solidFill>
          <a:ln w="12700">
            <a:solidFill>
              <a:schemeClr val="accent5"/>
            </a:solidFill>
            <a:prstDash val="solid"/>
          </a:ln>
        </p:spPr>
      </p:sp>
      <p:sp>
        <p:nvSpPr>
          <p:cNvPr id="14" name="Timeline year 4"/>
          <p:cNvSpPr txBox="1"/>
          <p:nvPr/>
        </p:nvSpPr>
        <p:spPr>
          <a:xfrm>
            <a:off x="6949440" y="1417320"/>
            <a:ext cx="1463040" cy="365760"/>
          </a:xfrm>
          <a:prstGeom prst="rect">
            <a:avLst/>
          </a:prstGeom>
          <a:noFill/>
          <a:ln/>
        </p:spPr>
        <p:txBody>
          <a:bodyPr wrap="square" lIns="0" tIns="0" rIns="0" bIns="0" rtlCol="0" anchor="t"/>
          <a:lstStyle/>
          <a:p>
            <a:pPr algn="ctr" indent="0" marL="0">
              <a:buNone/>
            </a:pPr>
            <a:r>
              <a:rPr lang="en-US" sz="1600" b="1" dirty="0">
                <a:solidFill>
                  <a:schemeClr val="tx2"/>
                </a:solidFill>
              </a:rPr>
              <a:t>2026</a:t>
            </a:r>
            <a:endParaRPr lang="en-US" sz="1600" dirty="0"/>
          </a:p>
        </p:txBody>
      </p:sp>
      <p:sp>
        <p:nvSpPr>
          <p:cNvPr id="15" name="Timeline label 4"/>
          <p:cNvSpPr txBox="1"/>
          <p:nvPr/>
        </p:nvSpPr>
        <p:spPr>
          <a:xfrm>
            <a:off x="6949440" y="246888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News collected today</a:t>
            </a:r>
            <a:endParaRPr lang="en-US" sz="1200" dirty="0"/>
          </a:p>
        </p:txBody>
      </p:sp>
      <p:sp>
        <p:nvSpPr>
          <p:cNvPr id="16" name="Text 14"/>
          <p:cNvSpPr txBox="1"/>
          <p:nvPr/>
        </p:nvSpPr>
        <p:spPr>
          <a:xfrm>
            <a:off x="731520" y="3246120"/>
            <a:ext cx="7680960" cy="137160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Today's news reports closures directly, which would give away the label</a:t>
            </a:r>
            <a:endParaRPr lang="en-US" sz="1500" dirty="0"/>
          </a:p>
          <a:p>
            <a:pPr marL="342900" indent="-342900">
              <a:spcAft>
                <a:spcPts val="800"/>
              </a:spcAft>
              <a:buSzPct val="100000"/>
              <a:buChar char="•"/>
            </a:pPr>
            <a:r>
              <a:rPr lang="en-US" sz="1500" dirty="0">
                <a:solidFill>
                  <a:schemeClr val="tx1"/>
                </a:solidFill>
              </a:rPr>
              <a:t>Only data dated before T is allowed: eligibility, funding and news (filtered twice)</a:t>
            </a:r>
            <a:endParaRPr lang="en-US" sz="1500" dirty="0"/>
          </a:p>
          <a:p>
            <a:pPr marL="342900" indent="-342900">
              <a:spcAft>
                <a:spcPts val="800"/>
              </a:spcAft>
              <a:buSzPct val="100000"/>
              <a:buChar char="•"/>
            </a:pPr>
            <a:r>
              <a:rPr lang="en-US" sz="1500" dirty="0">
                <a:solidFill>
                  <a:schemeClr val="tx1"/>
                </a:solidFill>
              </a:rPr>
              <a:t>Funding totals are used only when every round is provably before T</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rPr>
              <a:t>From 66,368 rows to 22,075 eligible startups</a:t>
            </a:r>
            <a:endParaRPr lang="en-US" sz="2800" dirty="0"/>
          </a:p>
        </p:txBody>
      </p:sp>
      <p:graphicFrame>
        <p:nvGraphicFramePr>
          <p:cNvPr id="3" name="Funnel chart" descr=""/>
          <p:cNvGraphicFramePr/>
          <p:nvPr/>
        </p:nvGraphicFramePr>
        <p:xfrm>
          <a:off x="457200" y="1097280"/>
          <a:ext cx="4937760" cy="3474720"/>
        </p:xfrm>
        <a:graphic xmlns:a="http://schemas.openxmlformats.org/drawingml/2006/main">
          <a:graphicData uri="http://schemas.openxmlformats.org/drawingml/2006/chart">
            <c:chart xmlns:c="http://schemas.openxmlformats.org/drawingml/2006/chart" r:id="rId1"/>
          </a:graphicData>
        </a:graphic>
      </p:graphicFrame>
      <p:sp>
        <p:nvSpPr>
          <p:cNvPr id="4" name="Class split card"/>
          <p:cNvSpPr/>
          <p:nvPr/>
        </p:nvSpPr>
        <p:spPr>
          <a:xfrm>
            <a:off x="5669280" y="1188720"/>
            <a:ext cx="3017520" cy="3291840"/>
          </a:xfrm>
          <a:prstGeom prst="roundRect">
            <a:avLst>
              <a:gd name="adj" fmla="val 2424"/>
            </a:avLst>
          </a:prstGeom>
          <a:solidFill>
            <a:schemeClr val="bg2"/>
          </a:solidFill>
          <a:ln w="12700">
            <a:solidFill>
              <a:schemeClr val="bg2"/>
            </a:solidFill>
            <a:prstDash val="solid"/>
          </a:ln>
        </p:spPr>
      </p:sp>
      <p:sp>
        <p:nvSpPr>
          <p:cNvPr id="5" name="Stat closed number"/>
          <p:cNvSpPr txBox="1"/>
          <p:nvPr/>
        </p:nvSpPr>
        <p:spPr>
          <a:xfrm>
            <a:off x="5897880" y="1325880"/>
            <a:ext cx="265176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13.15%</a:t>
            </a:r>
            <a:endParaRPr lang="en-US" sz="4000" dirty="0"/>
          </a:p>
        </p:txBody>
      </p:sp>
      <p:sp>
        <p:nvSpPr>
          <p:cNvPr id="6" name="Stat closed label"/>
          <p:cNvSpPr txBox="1"/>
          <p:nvPr/>
        </p:nvSpPr>
        <p:spPr>
          <a:xfrm>
            <a:off x="5897880" y="2039112"/>
            <a:ext cx="2651760" cy="548640"/>
          </a:xfrm>
          <a:prstGeom prst="rect">
            <a:avLst/>
          </a:prstGeom>
          <a:noFill/>
          <a:ln/>
        </p:spPr>
        <p:txBody>
          <a:bodyPr wrap="square" lIns="0" tIns="0" rIns="0" bIns="0" rtlCol="0" anchor="t"/>
          <a:lstStyle/>
          <a:p>
            <a:pPr indent="0" marL="0">
              <a:buNone/>
            </a:pPr>
            <a:r>
              <a:rPr lang="en-US" sz="1200" dirty="0">
                <a:solidFill>
                  <a:schemeClr val="tx1"/>
                </a:solidFill>
              </a:rPr>
              <a:t>closed (2,902): label 0</a:t>
            </a:r>
            <a:endParaRPr lang="en-US" sz="1200" dirty="0"/>
          </a:p>
        </p:txBody>
      </p:sp>
      <p:sp>
        <p:nvSpPr>
          <p:cNvPr id="7" name="Stat operating number"/>
          <p:cNvSpPr txBox="1"/>
          <p:nvPr/>
        </p:nvSpPr>
        <p:spPr>
          <a:xfrm>
            <a:off x="5897880" y="2606040"/>
            <a:ext cx="265176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86.85%</a:t>
            </a:r>
            <a:endParaRPr lang="en-US" sz="4000" dirty="0"/>
          </a:p>
        </p:txBody>
      </p:sp>
      <p:sp>
        <p:nvSpPr>
          <p:cNvPr id="8" name="Stat operating label"/>
          <p:cNvSpPr txBox="1"/>
          <p:nvPr/>
        </p:nvSpPr>
        <p:spPr>
          <a:xfrm>
            <a:off x="5897880" y="3319272"/>
            <a:ext cx="2651760" cy="548640"/>
          </a:xfrm>
          <a:prstGeom prst="rect">
            <a:avLst/>
          </a:prstGeom>
          <a:noFill/>
          <a:ln/>
        </p:spPr>
        <p:txBody>
          <a:bodyPr wrap="square" lIns="0" tIns="0" rIns="0" bIns="0" rtlCol="0" anchor="t"/>
          <a:lstStyle/>
          <a:p>
            <a:pPr indent="0" marL="0">
              <a:buNone/>
            </a:pPr>
            <a:r>
              <a:rPr lang="en-US" sz="1200" dirty="0">
                <a:solidFill>
                  <a:schemeClr val="tx1"/>
                </a:solidFill>
              </a:rPr>
              <a:t>operating (19,173): label 1</a:t>
            </a:r>
            <a:endParaRPr lang="en-US" sz="1200" dirty="0"/>
          </a:p>
        </p:txBody>
      </p:sp>
      <p:sp>
        <p:nvSpPr>
          <p:cNvPr id="9" name="Exclusion note"/>
          <p:cNvSpPr txBox="1"/>
          <p:nvPr/>
        </p:nvSpPr>
        <p:spPr>
          <a:xfrm>
            <a:off x="5897880" y="3886200"/>
            <a:ext cx="2651760" cy="502920"/>
          </a:xfrm>
          <a:prstGeom prst="rect">
            <a:avLst/>
          </a:prstGeom>
          <a:noFill/>
          <a:ln/>
        </p:spPr>
        <p:txBody>
          <a:bodyPr wrap="square" lIns="0" tIns="0" rIns="0" bIns="0" rtlCol="0" anchor="t"/>
          <a:lstStyle/>
          <a:p>
            <a:pPr indent="0" marL="0">
              <a:buNone/>
            </a:pPr>
            <a:r>
              <a:rPr lang="en-US" sz="1100" dirty="0">
                <a:solidFill>
                  <a:schemeClr val="accent5"/>
                </a:solidFill>
              </a:rPr>
              <a:t>Acquired and IPO companies are excluded as ambiguous outcomes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rPr>
              <a:t>One pipeline, five layers of the stack</a:t>
            </a:r>
            <a:endParaRPr lang="en-US" sz="2800" dirty="0"/>
          </a:p>
        </p:txBody>
      </p:sp>
      <p:sp>
        <p:nvSpPr>
          <p:cNvPr id="3" name="Stage HDFS"/>
          <p:cNvSpPr/>
          <p:nvPr/>
        </p:nvSpPr>
        <p:spPr>
          <a:xfrm>
            <a:off x="457200" y="1463040"/>
            <a:ext cx="1481328" cy="1463040"/>
          </a:xfrm>
          <a:prstGeom prst="roundRect">
            <a:avLst>
              <a:gd name="adj" fmla="val 5000"/>
            </a:avLst>
          </a:prstGeom>
          <a:solidFill>
            <a:srgbClr val="DCE8F2"/>
          </a:solidFill>
          <a:ln w="12700">
            <a:solidFill>
              <a:srgbClr val="DCE8F2"/>
            </a:solidFill>
            <a:prstDash val="solid"/>
          </a:ln>
        </p:spPr>
      </p:sp>
      <p:sp>
        <p:nvSpPr>
          <p:cNvPr id="4" name="Stage title 1"/>
          <p:cNvSpPr txBox="1"/>
          <p:nvPr/>
        </p:nvSpPr>
        <p:spPr>
          <a:xfrm>
            <a:off x="566928" y="1600200"/>
            <a:ext cx="12801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HDFS</a:t>
            </a:r>
            <a:endParaRPr lang="en-US" sz="1700" dirty="0"/>
          </a:p>
        </p:txBody>
      </p:sp>
      <p:sp>
        <p:nvSpPr>
          <p:cNvPr id="5" name="Stage desc 1"/>
          <p:cNvSpPr txBox="1"/>
          <p:nvPr/>
        </p:nvSpPr>
        <p:spPr>
          <a:xfrm>
            <a:off x="566928" y="2057400"/>
            <a:ext cx="1280160" cy="777240"/>
          </a:xfrm>
          <a:prstGeom prst="rect">
            <a:avLst/>
          </a:prstGeom>
          <a:noFill/>
          <a:ln/>
        </p:spPr>
        <p:txBody>
          <a:bodyPr wrap="square" lIns="0" tIns="0" rIns="0" bIns="0" rtlCol="0" anchor="t"/>
          <a:lstStyle/>
          <a:p>
            <a:pPr indent="0" marL="0">
              <a:buNone/>
            </a:pPr>
            <a:r>
              <a:rPr lang="en-US" sz="1200" dirty="0">
                <a:solidFill>
                  <a:schemeClr val="tx1"/>
                </a:solidFill>
              </a:rPr>
              <a:t>raw and processed storage</a:t>
            </a:r>
            <a:endParaRPr lang="en-US" sz="1200" dirty="0"/>
          </a:p>
        </p:txBody>
      </p:sp>
      <p:sp>
        <p:nvSpPr>
          <p:cNvPr id="6" name="Arrow 1"/>
          <p:cNvSpPr/>
          <p:nvPr/>
        </p:nvSpPr>
        <p:spPr>
          <a:xfrm>
            <a:off x="1984248" y="2075688"/>
            <a:ext cx="146304" cy="237744"/>
          </a:xfrm>
          <a:prstGeom prst="chevron">
            <a:avLst/>
          </a:prstGeom>
          <a:solidFill>
            <a:srgbClr val="8A97A8"/>
          </a:solidFill>
          <a:ln w="12700">
            <a:solidFill>
              <a:srgbClr val="8A97A8"/>
            </a:solidFill>
            <a:prstDash val="solid"/>
          </a:ln>
        </p:spPr>
      </p:sp>
      <p:sp>
        <p:nvSpPr>
          <p:cNvPr id="7" name="Stage Hive"/>
          <p:cNvSpPr/>
          <p:nvPr/>
        </p:nvSpPr>
        <p:spPr>
          <a:xfrm>
            <a:off x="2157984" y="1463040"/>
            <a:ext cx="1481328" cy="1463040"/>
          </a:xfrm>
          <a:prstGeom prst="roundRect">
            <a:avLst>
              <a:gd name="adj" fmla="val 5000"/>
            </a:avLst>
          </a:prstGeom>
          <a:solidFill>
            <a:schemeClr val="bg2"/>
          </a:solidFill>
          <a:ln w="12700">
            <a:solidFill>
              <a:schemeClr val="bg2"/>
            </a:solidFill>
            <a:prstDash val="solid"/>
          </a:ln>
        </p:spPr>
      </p:sp>
      <p:sp>
        <p:nvSpPr>
          <p:cNvPr id="8" name="Stage title 2"/>
          <p:cNvSpPr txBox="1"/>
          <p:nvPr/>
        </p:nvSpPr>
        <p:spPr>
          <a:xfrm>
            <a:off x="2267712" y="1600200"/>
            <a:ext cx="12801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Hive</a:t>
            </a:r>
            <a:endParaRPr lang="en-US" sz="1700" dirty="0"/>
          </a:p>
        </p:txBody>
      </p:sp>
      <p:sp>
        <p:nvSpPr>
          <p:cNvPr id="9" name="Stage desc 2"/>
          <p:cNvSpPr txBox="1"/>
          <p:nvPr/>
        </p:nvSpPr>
        <p:spPr>
          <a:xfrm>
            <a:off x="2267712" y="2057400"/>
            <a:ext cx="1280160" cy="777240"/>
          </a:xfrm>
          <a:prstGeom prst="rect">
            <a:avLst/>
          </a:prstGeom>
          <a:noFill/>
          <a:ln/>
        </p:spPr>
        <p:txBody>
          <a:bodyPr wrap="square" lIns="0" tIns="0" rIns="0" bIns="0" rtlCol="0" anchor="t"/>
          <a:lstStyle/>
          <a:p>
            <a:pPr indent="0" marL="0">
              <a:buNone/>
            </a:pPr>
            <a:r>
              <a:rPr lang="en-US" sz="1200" dirty="0">
                <a:solidFill>
                  <a:schemeClr val="tx1"/>
                </a:solidFill>
              </a:rPr>
              <a:t>schema and SQL EDA</a:t>
            </a:r>
            <a:endParaRPr lang="en-US" sz="1200" dirty="0"/>
          </a:p>
        </p:txBody>
      </p:sp>
      <p:sp>
        <p:nvSpPr>
          <p:cNvPr id="10" name="Arrow 2"/>
          <p:cNvSpPr/>
          <p:nvPr/>
        </p:nvSpPr>
        <p:spPr>
          <a:xfrm>
            <a:off x="3685032" y="2075688"/>
            <a:ext cx="146304" cy="237744"/>
          </a:xfrm>
          <a:prstGeom prst="chevron">
            <a:avLst/>
          </a:prstGeom>
          <a:solidFill>
            <a:srgbClr val="8A97A8"/>
          </a:solidFill>
          <a:ln w="12700">
            <a:solidFill>
              <a:srgbClr val="8A97A8"/>
            </a:solidFill>
            <a:prstDash val="solid"/>
          </a:ln>
        </p:spPr>
      </p:sp>
      <p:sp>
        <p:nvSpPr>
          <p:cNvPr id="11" name="Stage Scala"/>
          <p:cNvSpPr/>
          <p:nvPr/>
        </p:nvSpPr>
        <p:spPr>
          <a:xfrm>
            <a:off x="3858768" y="1463040"/>
            <a:ext cx="1481328" cy="1463040"/>
          </a:xfrm>
          <a:prstGeom prst="roundRect">
            <a:avLst>
              <a:gd name="adj" fmla="val 5000"/>
            </a:avLst>
          </a:prstGeom>
          <a:solidFill>
            <a:srgbClr val="DCE8F2"/>
          </a:solidFill>
          <a:ln w="12700">
            <a:solidFill>
              <a:srgbClr val="DCE8F2"/>
            </a:solidFill>
            <a:prstDash val="solid"/>
          </a:ln>
        </p:spPr>
      </p:sp>
      <p:sp>
        <p:nvSpPr>
          <p:cNvPr id="12" name="Stage title 3"/>
          <p:cNvSpPr txBox="1"/>
          <p:nvPr/>
        </p:nvSpPr>
        <p:spPr>
          <a:xfrm>
            <a:off x="3968496" y="1600200"/>
            <a:ext cx="12801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Scala</a:t>
            </a:r>
            <a:endParaRPr lang="en-US" sz="1700" dirty="0"/>
          </a:p>
        </p:txBody>
      </p:sp>
      <p:sp>
        <p:nvSpPr>
          <p:cNvPr id="13" name="Stage desc 3"/>
          <p:cNvSpPr txBox="1"/>
          <p:nvPr/>
        </p:nvSpPr>
        <p:spPr>
          <a:xfrm>
            <a:off x="3968496" y="2057400"/>
            <a:ext cx="1280160" cy="777240"/>
          </a:xfrm>
          <a:prstGeom prst="rect">
            <a:avLst/>
          </a:prstGeom>
          <a:noFill/>
          <a:ln/>
        </p:spPr>
        <p:txBody>
          <a:bodyPr wrap="square" lIns="0" tIns="0" rIns="0" bIns="0" rtlCol="0" anchor="t"/>
          <a:lstStyle/>
          <a:p>
            <a:pPr indent="0" marL="0">
              <a:buNone/>
            </a:pPr>
            <a:r>
              <a:rPr lang="en-US" sz="1200" dirty="0">
                <a:solidFill>
                  <a:schemeClr val="tx1"/>
                </a:solidFill>
              </a:rPr>
              <a:t>match, score, features</a:t>
            </a:r>
            <a:endParaRPr lang="en-US" sz="1200" dirty="0"/>
          </a:p>
        </p:txBody>
      </p:sp>
      <p:sp>
        <p:nvSpPr>
          <p:cNvPr id="14" name="Arrow 3"/>
          <p:cNvSpPr/>
          <p:nvPr/>
        </p:nvSpPr>
        <p:spPr>
          <a:xfrm>
            <a:off x="5385816" y="2075688"/>
            <a:ext cx="146304" cy="237744"/>
          </a:xfrm>
          <a:prstGeom prst="chevron">
            <a:avLst/>
          </a:prstGeom>
          <a:solidFill>
            <a:srgbClr val="8A97A8"/>
          </a:solidFill>
          <a:ln w="12700">
            <a:solidFill>
              <a:srgbClr val="8A97A8"/>
            </a:solidFill>
            <a:prstDash val="solid"/>
          </a:ln>
        </p:spPr>
      </p:sp>
      <p:sp>
        <p:nvSpPr>
          <p:cNvPr id="15" name="Stage Spark RDDs"/>
          <p:cNvSpPr/>
          <p:nvPr/>
        </p:nvSpPr>
        <p:spPr>
          <a:xfrm>
            <a:off x="5559552" y="1463040"/>
            <a:ext cx="1481328" cy="1463040"/>
          </a:xfrm>
          <a:prstGeom prst="roundRect">
            <a:avLst>
              <a:gd name="adj" fmla="val 5000"/>
            </a:avLst>
          </a:prstGeom>
          <a:solidFill>
            <a:schemeClr val="bg2"/>
          </a:solidFill>
          <a:ln w="12700">
            <a:solidFill>
              <a:schemeClr val="bg2"/>
            </a:solidFill>
            <a:prstDash val="solid"/>
          </a:ln>
        </p:spPr>
      </p:sp>
      <p:sp>
        <p:nvSpPr>
          <p:cNvPr id="16" name="Stage title 4"/>
          <p:cNvSpPr txBox="1"/>
          <p:nvPr/>
        </p:nvSpPr>
        <p:spPr>
          <a:xfrm>
            <a:off x="5669280" y="1600200"/>
            <a:ext cx="12801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Spark RDDs</a:t>
            </a:r>
            <a:endParaRPr lang="en-US" sz="1700" dirty="0"/>
          </a:p>
        </p:txBody>
      </p:sp>
      <p:sp>
        <p:nvSpPr>
          <p:cNvPr id="17" name="Stage desc 4"/>
          <p:cNvSpPr txBox="1"/>
          <p:nvPr/>
        </p:nvSpPr>
        <p:spPr>
          <a:xfrm>
            <a:off x="5669280" y="2057400"/>
            <a:ext cx="1280160" cy="777240"/>
          </a:xfrm>
          <a:prstGeom prst="rect">
            <a:avLst/>
          </a:prstGeom>
          <a:noFill/>
          <a:ln/>
        </p:spPr>
        <p:txBody>
          <a:bodyPr wrap="square" lIns="0" tIns="0" rIns="0" bIns="0" rtlCol="0" anchor="t"/>
          <a:lstStyle/>
          <a:p>
            <a:pPr indent="0" marL="0">
              <a:buNone/>
            </a:pPr>
            <a:r>
              <a:rPr lang="en-US" sz="1200" dirty="0">
                <a:solidFill>
                  <a:schemeClr val="tx1"/>
                </a:solidFill>
              </a:rPr>
              <a:t>key/value join, persist</a:t>
            </a:r>
            <a:endParaRPr lang="en-US" sz="1200" dirty="0"/>
          </a:p>
        </p:txBody>
      </p:sp>
      <p:sp>
        <p:nvSpPr>
          <p:cNvPr id="18" name="Arrow 4"/>
          <p:cNvSpPr/>
          <p:nvPr/>
        </p:nvSpPr>
        <p:spPr>
          <a:xfrm>
            <a:off x="7086600" y="2075688"/>
            <a:ext cx="146304" cy="237744"/>
          </a:xfrm>
          <a:prstGeom prst="chevron">
            <a:avLst/>
          </a:prstGeom>
          <a:solidFill>
            <a:srgbClr val="8A97A8"/>
          </a:solidFill>
          <a:ln w="12700">
            <a:solidFill>
              <a:srgbClr val="8A97A8"/>
            </a:solidFill>
            <a:prstDash val="solid"/>
          </a:ln>
        </p:spPr>
      </p:sp>
      <p:sp>
        <p:nvSpPr>
          <p:cNvPr id="19" name="Stage MLlib"/>
          <p:cNvSpPr/>
          <p:nvPr/>
        </p:nvSpPr>
        <p:spPr>
          <a:xfrm>
            <a:off x="7260336" y="1463040"/>
            <a:ext cx="1481328" cy="1463040"/>
          </a:xfrm>
          <a:prstGeom prst="roundRect">
            <a:avLst>
              <a:gd name="adj" fmla="val 5000"/>
            </a:avLst>
          </a:prstGeom>
          <a:solidFill>
            <a:srgbClr val="DCE8F2"/>
          </a:solidFill>
          <a:ln w="12700">
            <a:solidFill>
              <a:srgbClr val="DCE8F2"/>
            </a:solidFill>
            <a:prstDash val="solid"/>
          </a:ln>
        </p:spPr>
      </p:sp>
      <p:sp>
        <p:nvSpPr>
          <p:cNvPr id="20" name="Stage title 5"/>
          <p:cNvSpPr txBox="1"/>
          <p:nvPr/>
        </p:nvSpPr>
        <p:spPr>
          <a:xfrm>
            <a:off x="7370064" y="1600200"/>
            <a:ext cx="12801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MLlib</a:t>
            </a:r>
            <a:endParaRPr lang="en-US" sz="1700" dirty="0"/>
          </a:p>
        </p:txBody>
      </p:sp>
      <p:sp>
        <p:nvSpPr>
          <p:cNvPr id="21" name="Stage desc 5"/>
          <p:cNvSpPr txBox="1"/>
          <p:nvPr/>
        </p:nvSpPr>
        <p:spPr>
          <a:xfrm>
            <a:off x="7370064" y="2057400"/>
            <a:ext cx="1280160" cy="777240"/>
          </a:xfrm>
          <a:prstGeom prst="rect">
            <a:avLst/>
          </a:prstGeom>
          <a:noFill/>
          <a:ln/>
        </p:spPr>
        <p:txBody>
          <a:bodyPr wrap="square" lIns="0" tIns="0" rIns="0" bIns="0" rtlCol="0" anchor="t"/>
          <a:lstStyle/>
          <a:p>
            <a:pPr indent="0" marL="0">
              <a:buNone/>
            </a:pPr>
            <a:r>
              <a:rPr lang="en-US" sz="1200" dirty="0">
                <a:solidFill>
                  <a:schemeClr val="tx1"/>
                </a:solidFill>
              </a:rPr>
              <a:t>LR and SVM, 4 experiments</a:t>
            </a:r>
            <a:endParaRPr lang="en-US" sz="1200" dirty="0"/>
          </a:p>
        </p:txBody>
      </p:sp>
      <p:sp>
        <p:nvSpPr>
          <p:cNvPr id="22" name="Text 20"/>
          <p:cNvSpPr txBox="1"/>
          <p:nvPr/>
        </p:nvSpPr>
        <p:spPr>
          <a:xfrm>
            <a:off x="457200" y="3291840"/>
            <a:ext cx="8229600" cy="109728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Hadoop 3.3.6 · Hive 3.1.3 · Scala 2.12.18 · Spark 3.5.1, on a single-node WSL2 cluster</a:t>
            </a:r>
            <a:endParaRPr lang="en-US" sz="1500" dirty="0"/>
          </a:p>
          <a:p>
            <a:pPr marL="342900" indent="-342900">
              <a:spcAft>
                <a:spcPts val="800"/>
              </a:spcAft>
              <a:buSzPct val="100000"/>
              <a:buChar char="•"/>
            </a:pPr>
            <a:r>
              <a:rPr lang="en-US" sz="1500" dirty="0">
                <a:solidFill>
                  <a:schemeClr val="tx1"/>
                </a:solidFill>
              </a:rPr>
              <a:t>Python is used only for plots; every graded stage is Scala and Spark</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rPr>
              <a:t>Two feature sets, one strict superset</a:t>
            </a:r>
            <a:endParaRPr lang="en-US" sz="2800" dirty="0"/>
          </a:p>
        </p:txBody>
      </p:sp>
      <p:sp>
        <p:nvSpPr>
          <p:cNvPr id="3" name="Group A card"/>
          <p:cNvSpPr/>
          <p:nvPr/>
        </p:nvSpPr>
        <p:spPr>
          <a:xfrm>
            <a:off x="457200" y="1143000"/>
            <a:ext cx="3977640" cy="3383280"/>
          </a:xfrm>
          <a:prstGeom prst="roundRect">
            <a:avLst>
              <a:gd name="adj" fmla="val 2162"/>
            </a:avLst>
          </a:prstGeom>
          <a:solidFill>
            <a:schemeClr val="bg2"/>
          </a:solidFill>
          <a:ln w="12700">
            <a:solidFill>
              <a:schemeClr val="bg2"/>
            </a:solidFill>
            <a:prstDash val="solid"/>
          </a:ln>
        </p:spPr>
      </p:sp>
      <p:sp>
        <p:nvSpPr>
          <p:cNvPr id="4" name="Group B card"/>
          <p:cNvSpPr/>
          <p:nvPr/>
        </p:nvSpPr>
        <p:spPr>
          <a:xfrm>
            <a:off x="4709160" y="1143000"/>
            <a:ext cx="3977640" cy="3383280"/>
          </a:xfrm>
          <a:prstGeom prst="roundRect">
            <a:avLst>
              <a:gd name="adj" fmla="val 2162"/>
            </a:avLst>
          </a:prstGeom>
          <a:solidFill>
            <a:srgbClr val="E3F3EC"/>
          </a:solidFill>
          <a:ln w="12700">
            <a:solidFill>
              <a:srgbClr val="E3F3EC"/>
            </a:solidFill>
            <a:prstDash val="solid"/>
          </a:ln>
        </p:spPr>
      </p:sp>
      <p:sp>
        <p:nvSpPr>
          <p:cNvPr id="5" name="Group A title"/>
          <p:cNvSpPr txBox="1"/>
          <p:nvPr/>
        </p:nvSpPr>
        <p:spPr>
          <a:xfrm>
            <a:off x="685800" y="1280160"/>
            <a:ext cx="3566160" cy="411480"/>
          </a:xfrm>
          <a:prstGeom prst="rect">
            <a:avLst/>
          </a:prstGeom>
          <a:noFill/>
          <a:ln/>
        </p:spPr>
        <p:txBody>
          <a:bodyPr wrap="square" lIns="0" tIns="0" rIns="0" bIns="0" rtlCol="0" anchor="t"/>
          <a:lstStyle/>
          <a:p>
            <a:pPr indent="0" marL="0">
              <a:buNone/>
            </a:pPr>
            <a:r>
              <a:rPr lang="en-US" sz="1800" b="1" dirty="0">
                <a:solidFill>
                  <a:schemeClr val="accent3"/>
                </a:solidFill>
                <a:latin typeface="Cambria" pitchFamily="34" charset="0"/>
                <a:ea typeface="Cambria" pitchFamily="34" charset="-122"/>
                <a:cs typeface="Cambria" pitchFamily="34" charset="-120"/>
              </a:rPr>
              <a:t>A · Financial (8)</a:t>
            </a:r>
            <a:endParaRPr lang="en-US" sz="1800" dirty="0"/>
          </a:p>
        </p:txBody>
      </p:sp>
      <p:sp>
        <p:nvSpPr>
          <p:cNvPr id="6" name="Text 4"/>
          <p:cNvSpPr txBox="1"/>
          <p:nvPr/>
        </p:nvSpPr>
        <p:spPr>
          <a:xfrm>
            <a:off x="685800" y="1783080"/>
            <a:ext cx="3566160" cy="265176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Age at cutoff</a:t>
            </a:r>
            <a:endParaRPr lang="en-US" sz="1400" dirty="0"/>
          </a:p>
          <a:p>
            <a:pPr marL="342900" indent="-342900">
              <a:spcAft>
                <a:spcPts val="800"/>
              </a:spcAft>
              <a:buSzPct val="100000"/>
              <a:buChar char="•"/>
            </a:pPr>
            <a:r>
              <a:rPr lang="en-US" sz="1400" dirty="0">
                <a:solidFill>
                  <a:schemeClr val="tx1"/>
                </a:solidFill>
              </a:rPr>
              <a:t>Total funding and round count (leakage-guarded)</a:t>
            </a:r>
            <a:endParaRPr lang="en-US" sz="1400" dirty="0"/>
          </a:p>
          <a:p>
            <a:pPr marL="342900" indent="-342900">
              <a:spcAft>
                <a:spcPts val="800"/>
              </a:spcAft>
              <a:buSzPct val="100000"/>
              <a:buChar char="•"/>
            </a:pPr>
            <a:r>
              <a:rPr lang="en-US" sz="1400" dirty="0">
                <a:solidFill>
                  <a:schemeClr val="tx1"/>
                </a:solidFill>
              </a:rPr>
              <a:t>Average round size, funding frequency</a:t>
            </a:r>
            <a:endParaRPr lang="en-US" sz="1400" dirty="0"/>
          </a:p>
          <a:p>
            <a:pPr marL="342900" indent="-342900">
              <a:spcAft>
                <a:spcPts val="800"/>
              </a:spcAft>
              <a:buSzPct val="100000"/>
              <a:buChar char="•"/>
            </a:pPr>
            <a:r>
              <a:rPr lang="en-US" sz="1400" dirty="0">
                <a:solidFill>
                  <a:schemeClr val="tx1"/>
                </a:solidFill>
              </a:rPr>
              <a:t>Days since last round</a:t>
            </a:r>
            <a:endParaRPr lang="en-US" sz="1400" dirty="0"/>
          </a:p>
          <a:p>
            <a:pPr marL="342900" indent="-342900">
              <a:spcAft>
                <a:spcPts val="800"/>
              </a:spcAft>
              <a:buSzPct val="100000"/>
              <a:buChar char="•"/>
            </a:pPr>
            <a:r>
              <a:rPr lang="en-US" sz="1400" dirty="0">
                <a:solidFill>
                  <a:schemeClr val="tx1"/>
                </a:solidFill>
              </a:rPr>
              <a:t>Two 0/1 indicator flags</a:t>
            </a:r>
            <a:endParaRPr lang="en-US" sz="1400" dirty="0"/>
          </a:p>
        </p:txBody>
      </p:sp>
      <p:sp>
        <p:nvSpPr>
          <p:cNvPr id="7" name="Group B title"/>
          <p:cNvSpPr txBox="1"/>
          <p:nvPr/>
        </p:nvSpPr>
        <p:spPr>
          <a:xfrm>
            <a:off x="4937760" y="1280160"/>
            <a:ext cx="3566160" cy="4114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B · A + Sentiment (+12)</a:t>
            </a:r>
            <a:endParaRPr lang="en-US" sz="1800" dirty="0"/>
          </a:p>
        </p:txBody>
      </p:sp>
      <p:sp>
        <p:nvSpPr>
          <p:cNvPr id="8" name="Text 6"/>
          <p:cNvSpPr txBox="1"/>
          <p:nvPr/>
        </p:nvSpPr>
        <p:spPr>
          <a:xfrm>
            <a:off x="4937760" y="1783080"/>
            <a:ext cx="3566160" cy="265176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News count; positive, negative and neutral counts</a:t>
            </a:r>
            <a:endParaRPr lang="en-US" sz="1400" dirty="0"/>
          </a:p>
          <a:p>
            <a:pPr marL="342900" indent="-342900">
              <a:spcAft>
                <a:spcPts val="800"/>
              </a:spcAft>
              <a:buSzPct val="100000"/>
              <a:buChar char="•"/>
            </a:pPr>
            <a:r>
              <a:rPr lang="en-US" sz="1400" dirty="0">
                <a:solidFill>
                  <a:schemeClr val="tx1"/>
                </a:solidFill>
              </a:rPr>
              <a:t>Positive and negative ratios</a:t>
            </a:r>
            <a:endParaRPr lang="en-US" sz="1400" dirty="0"/>
          </a:p>
          <a:p>
            <a:pPr marL="342900" indent="-342900">
              <a:spcAft>
                <a:spcPts val="800"/>
              </a:spcAft>
              <a:buSzPct val="100000"/>
              <a:buChar char="•"/>
            </a:pPr>
            <a:r>
              <a:rPr lang="en-US" sz="1400" dirty="0">
                <a:solidFill>
                  <a:schemeClr val="tx1"/>
                </a:solidFill>
              </a:rPr>
              <a:t>Average and most recent sentiment</a:t>
            </a:r>
            <a:endParaRPr lang="en-US" sz="1400" dirty="0"/>
          </a:p>
          <a:p>
            <a:pPr marL="342900" indent="-342900">
              <a:spcAft>
                <a:spcPts val="800"/>
              </a:spcAft>
              <a:buSzPct val="100000"/>
              <a:buChar char="•"/>
            </a:pPr>
            <a:r>
              <a:rPr lang="en-US" sz="1400" dirty="0">
                <a:solidFill>
                  <a:schemeClr val="tx1"/>
                </a:solidFill>
              </a:rPr>
              <a:t>Trend, volatility and volume trend</a:t>
            </a:r>
            <a:endParaRPr lang="en-US" sz="1400" dirty="0"/>
          </a:p>
          <a:p>
            <a:pPr marL="342900" indent="-342900">
              <a:spcAft>
                <a:spcPts val="800"/>
              </a:spcAft>
              <a:buSzPct val="100000"/>
              <a:buChar char="•"/>
            </a:pPr>
            <a:r>
              <a:rPr lang="en-US" sz="1400" dirty="0">
                <a:solidFill>
                  <a:schemeClr val="tx1"/>
                </a:solidFill>
              </a:rPr>
              <a:t>Has-coverage indicator</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rPr>
              <a:t>A transparent, explainable sentiment scorer</a:t>
            </a:r>
            <a:endParaRPr lang="en-US" sz="2800" dirty="0"/>
          </a:p>
        </p:txBody>
      </p:sp>
      <p:sp>
        <p:nvSpPr>
          <p:cNvPr id="3" name="Headline card"/>
          <p:cNvSpPr/>
          <p:nvPr/>
        </p:nvSpPr>
        <p:spPr>
          <a:xfrm>
            <a:off x="457200" y="1143000"/>
            <a:ext cx="8229600" cy="777240"/>
          </a:xfrm>
          <a:prstGeom prst="roundRect">
            <a:avLst>
              <a:gd name="adj" fmla="val 9412"/>
            </a:avLst>
          </a:prstGeom>
          <a:solidFill>
            <a:srgbClr val="DCE8F2"/>
          </a:solidFill>
          <a:ln w="12700">
            <a:solidFill>
              <a:srgbClr val="DCE8F2"/>
            </a:solidFill>
            <a:prstDash val="solid"/>
          </a:ln>
        </p:spPr>
      </p:sp>
      <p:sp>
        <p:nvSpPr>
          <p:cNvPr id="4" name="Example headline"/>
          <p:cNvSpPr txBox="1"/>
          <p:nvPr/>
        </p:nvSpPr>
        <p:spPr>
          <a:xfrm>
            <a:off x="685800" y="1143000"/>
            <a:ext cx="7772400" cy="777240"/>
          </a:xfrm>
          <a:prstGeom prst="rect">
            <a:avLst/>
          </a:prstGeom>
          <a:noFill/>
          <a:ln/>
        </p:spPr>
        <p:txBody>
          <a:bodyPr wrap="square" lIns="0" tIns="0" rIns="0" bIns="0" rtlCol="0" anchor="ctr"/>
          <a:lstStyle/>
          <a:p>
            <a:pPr indent="0" marL="0">
              <a:buNone/>
            </a:pPr>
            <a:r>
              <a:rPr lang="en-US" sz="1800" i="1" dirty="0">
                <a:solidFill>
                  <a:schemeClr val="tx2"/>
                </a:solidFill>
              </a:rPr>
              <a:t>“Startup X raises major funding and expands into new markets”</a:t>
            </a:r>
            <a:endParaRPr lang="en-US" sz="1800" dirty="0"/>
          </a:p>
        </p:txBody>
      </p:sp>
      <p:sp>
        <p:nvSpPr>
          <p:cNvPr id="5" name="Step dot 1"/>
          <p:cNvSpPr/>
          <p:nvPr/>
        </p:nvSpPr>
        <p:spPr>
          <a:xfrm>
            <a:off x="457200" y="2377440"/>
            <a:ext cx="457200" cy="457200"/>
          </a:xfrm>
          <a:prstGeom prst="ellipse">
            <a:avLst/>
          </a:prstGeom>
          <a:solidFill>
            <a:schemeClr val="accent1"/>
          </a:solidFill>
          <a:ln w="12700">
            <a:solidFill>
              <a:srgbClr val="1F9E74"/>
            </a:solidFill>
            <a:prstDash val="solid"/>
          </a:ln>
        </p:spPr>
      </p:sp>
      <p:sp>
        <p:nvSpPr>
          <p:cNvPr id="6" name="Step num 1"/>
          <p:cNvSpPr txBox="1"/>
          <p:nvPr/>
        </p:nvSpPr>
        <p:spPr>
          <a:xfrm>
            <a:off x="457200"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tep title 1"/>
          <p:cNvSpPr txBox="1"/>
          <p:nvPr/>
        </p:nvSpPr>
        <p:spPr>
          <a:xfrm>
            <a:off x="1005840" y="2359152"/>
            <a:ext cx="1463040" cy="274320"/>
          </a:xfrm>
          <a:prstGeom prst="rect">
            <a:avLst/>
          </a:prstGeom>
          <a:noFill/>
          <a:ln/>
        </p:spPr>
        <p:txBody>
          <a:bodyPr wrap="square" lIns="0" tIns="0" rIns="0" bIns="0" rtlCol="0" anchor="t"/>
          <a:lstStyle/>
          <a:p>
            <a:pPr indent="0" marL="0">
              <a:buNone/>
            </a:pPr>
            <a:r>
              <a:rPr lang="en-US" sz="1500" b="1" dirty="0">
                <a:solidFill>
                  <a:schemeClr val="tx2"/>
                </a:solidFill>
              </a:rPr>
              <a:t>Normalise</a:t>
            </a:r>
            <a:endParaRPr lang="en-US" sz="1500" dirty="0"/>
          </a:p>
        </p:txBody>
      </p:sp>
      <p:sp>
        <p:nvSpPr>
          <p:cNvPr id="8" name="Step desc 1"/>
          <p:cNvSpPr txBox="1"/>
          <p:nvPr/>
        </p:nvSpPr>
        <p:spPr>
          <a:xfrm>
            <a:off x="1005840" y="2651760"/>
            <a:ext cx="1463040" cy="457200"/>
          </a:xfrm>
          <a:prstGeom prst="rect">
            <a:avLst/>
          </a:prstGeom>
          <a:noFill/>
          <a:ln/>
        </p:spPr>
        <p:txBody>
          <a:bodyPr wrap="square" lIns="0" tIns="0" rIns="0" bIns="0" rtlCol="0" anchor="t"/>
          <a:lstStyle/>
          <a:p>
            <a:pPr indent="0" marL="0">
              <a:buNone/>
            </a:pPr>
            <a:r>
              <a:rPr lang="en-US" sz="1200" dirty="0">
                <a:solidFill>
                  <a:schemeClr val="tx1"/>
                </a:solidFill>
              </a:rPr>
              <a:t>lowercase, tokenise</a:t>
            </a:r>
            <a:endParaRPr lang="en-US" sz="1200" dirty="0"/>
          </a:p>
        </p:txBody>
      </p:sp>
      <p:sp>
        <p:nvSpPr>
          <p:cNvPr id="9" name="Step dot 2"/>
          <p:cNvSpPr/>
          <p:nvPr/>
        </p:nvSpPr>
        <p:spPr>
          <a:xfrm>
            <a:off x="2560320" y="2377440"/>
            <a:ext cx="457200" cy="457200"/>
          </a:xfrm>
          <a:prstGeom prst="ellipse">
            <a:avLst/>
          </a:prstGeom>
          <a:solidFill>
            <a:schemeClr val="accent1"/>
          </a:solidFill>
          <a:ln w="12700">
            <a:solidFill>
              <a:srgbClr val="1F9E74"/>
            </a:solidFill>
            <a:prstDash val="solid"/>
          </a:ln>
        </p:spPr>
      </p:sp>
      <p:sp>
        <p:nvSpPr>
          <p:cNvPr id="10" name="Step num 2"/>
          <p:cNvSpPr txBox="1"/>
          <p:nvPr/>
        </p:nvSpPr>
        <p:spPr>
          <a:xfrm>
            <a:off x="2560320"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tep title 2"/>
          <p:cNvSpPr txBox="1"/>
          <p:nvPr/>
        </p:nvSpPr>
        <p:spPr>
          <a:xfrm>
            <a:off x="3108960" y="2359152"/>
            <a:ext cx="1463040" cy="274320"/>
          </a:xfrm>
          <a:prstGeom prst="rect">
            <a:avLst/>
          </a:prstGeom>
          <a:noFill/>
          <a:ln/>
        </p:spPr>
        <p:txBody>
          <a:bodyPr wrap="square" lIns="0" tIns="0" rIns="0" bIns="0" rtlCol="0" anchor="t"/>
          <a:lstStyle/>
          <a:p>
            <a:pPr indent="0" marL="0">
              <a:buNone/>
            </a:pPr>
            <a:r>
              <a:rPr lang="en-US" sz="1500" b="1" dirty="0">
                <a:solidFill>
                  <a:schemeClr val="tx2"/>
                </a:solidFill>
              </a:rPr>
              <a:t>Filter</a:t>
            </a:r>
            <a:endParaRPr lang="en-US" sz="1500" dirty="0"/>
          </a:p>
        </p:txBody>
      </p:sp>
      <p:sp>
        <p:nvSpPr>
          <p:cNvPr id="12" name="Step desc 2"/>
          <p:cNvSpPr txBox="1"/>
          <p:nvPr/>
        </p:nvSpPr>
        <p:spPr>
          <a:xfrm>
            <a:off x="3108960" y="2651760"/>
            <a:ext cx="1463040" cy="457200"/>
          </a:xfrm>
          <a:prstGeom prst="rect">
            <a:avLst/>
          </a:prstGeom>
          <a:noFill/>
          <a:ln/>
        </p:spPr>
        <p:txBody>
          <a:bodyPr wrap="square" lIns="0" tIns="0" rIns="0" bIns="0" rtlCol="0" anchor="t"/>
          <a:lstStyle/>
          <a:p>
            <a:pPr indent="0" marL="0">
              <a:buNone/>
            </a:pPr>
            <a:r>
              <a:rPr lang="en-US" sz="1200" dirty="0">
                <a:solidFill>
                  <a:schemeClr val="tx1"/>
                </a:solidFill>
              </a:rPr>
              <a:t>remove stopwords</a:t>
            </a:r>
            <a:endParaRPr lang="en-US" sz="1200" dirty="0"/>
          </a:p>
        </p:txBody>
      </p:sp>
      <p:sp>
        <p:nvSpPr>
          <p:cNvPr id="13" name="Step dot 3"/>
          <p:cNvSpPr/>
          <p:nvPr/>
        </p:nvSpPr>
        <p:spPr>
          <a:xfrm>
            <a:off x="4663440" y="2377440"/>
            <a:ext cx="457200" cy="457200"/>
          </a:xfrm>
          <a:prstGeom prst="ellipse">
            <a:avLst/>
          </a:prstGeom>
          <a:solidFill>
            <a:schemeClr val="accent1"/>
          </a:solidFill>
          <a:ln w="12700">
            <a:solidFill>
              <a:srgbClr val="1F9E74"/>
            </a:solidFill>
            <a:prstDash val="solid"/>
          </a:ln>
        </p:spPr>
      </p:sp>
      <p:sp>
        <p:nvSpPr>
          <p:cNvPr id="14" name="Step num 3"/>
          <p:cNvSpPr txBox="1"/>
          <p:nvPr/>
        </p:nvSpPr>
        <p:spPr>
          <a:xfrm>
            <a:off x="4663440"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Step title 3"/>
          <p:cNvSpPr txBox="1"/>
          <p:nvPr/>
        </p:nvSpPr>
        <p:spPr>
          <a:xfrm>
            <a:off x="5212080" y="2359152"/>
            <a:ext cx="1463040" cy="274320"/>
          </a:xfrm>
          <a:prstGeom prst="rect">
            <a:avLst/>
          </a:prstGeom>
          <a:noFill/>
          <a:ln/>
        </p:spPr>
        <p:txBody>
          <a:bodyPr wrap="square" lIns="0" tIns="0" rIns="0" bIns="0" rtlCol="0" anchor="t"/>
          <a:lstStyle/>
          <a:p>
            <a:pPr indent="0" marL="0">
              <a:buNone/>
            </a:pPr>
            <a:r>
              <a:rPr lang="en-US" sz="1500" b="1" dirty="0">
                <a:solidFill>
                  <a:schemeClr val="tx2"/>
                </a:solidFill>
              </a:rPr>
              <a:t>Match</a:t>
            </a:r>
            <a:endParaRPr lang="en-US" sz="1500" dirty="0"/>
          </a:p>
        </p:txBody>
      </p:sp>
      <p:sp>
        <p:nvSpPr>
          <p:cNvPr id="16" name="Step desc 3"/>
          <p:cNvSpPr txBox="1"/>
          <p:nvPr/>
        </p:nvSpPr>
        <p:spPr>
          <a:xfrm>
            <a:off x="5212080" y="2651760"/>
            <a:ext cx="1463040" cy="457200"/>
          </a:xfrm>
          <a:prstGeom prst="rect">
            <a:avLst/>
          </a:prstGeom>
          <a:noFill/>
          <a:ln/>
        </p:spPr>
        <p:txBody>
          <a:bodyPr wrap="square" lIns="0" tIns="0" rIns="0" bIns="0" rtlCol="0" anchor="t"/>
          <a:lstStyle/>
          <a:p>
            <a:pPr indent="0" marL="0">
              <a:buNone/>
            </a:pPr>
            <a:r>
              <a:rPr lang="en-US" sz="1200" dirty="0">
                <a:solidFill>
                  <a:schemeClr val="tx1"/>
                </a:solidFill>
              </a:rPr>
              <a:t>foldLeft over lexicon</a:t>
            </a:r>
            <a:endParaRPr lang="en-US" sz="1200" dirty="0"/>
          </a:p>
        </p:txBody>
      </p:sp>
      <p:sp>
        <p:nvSpPr>
          <p:cNvPr id="17" name="Step dot 4"/>
          <p:cNvSpPr/>
          <p:nvPr/>
        </p:nvSpPr>
        <p:spPr>
          <a:xfrm>
            <a:off x="6766560" y="2377440"/>
            <a:ext cx="457200" cy="457200"/>
          </a:xfrm>
          <a:prstGeom prst="ellipse">
            <a:avLst/>
          </a:prstGeom>
          <a:solidFill>
            <a:schemeClr val="accent1"/>
          </a:solidFill>
          <a:ln w="12700">
            <a:solidFill>
              <a:srgbClr val="1F9E74"/>
            </a:solidFill>
            <a:prstDash val="solid"/>
          </a:ln>
        </p:spPr>
      </p:sp>
      <p:sp>
        <p:nvSpPr>
          <p:cNvPr id="18" name="Step num 4"/>
          <p:cNvSpPr txBox="1"/>
          <p:nvPr/>
        </p:nvSpPr>
        <p:spPr>
          <a:xfrm>
            <a:off x="6766560"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9" name="Step title 4"/>
          <p:cNvSpPr txBox="1"/>
          <p:nvPr/>
        </p:nvSpPr>
        <p:spPr>
          <a:xfrm>
            <a:off x="7315200" y="2359152"/>
            <a:ext cx="1463040" cy="274320"/>
          </a:xfrm>
          <a:prstGeom prst="rect">
            <a:avLst/>
          </a:prstGeom>
          <a:noFill/>
          <a:ln/>
        </p:spPr>
        <p:txBody>
          <a:bodyPr wrap="square" lIns="0" tIns="0" rIns="0" bIns="0" rtlCol="0" anchor="t"/>
          <a:lstStyle/>
          <a:p>
            <a:pPr indent="0" marL="0">
              <a:buNone/>
            </a:pPr>
            <a:r>
              <a:rPr lang="en-US" sz="1500" b="1" dirty="0">
                <a:solidFill>
                  <a:schemeClr val="tx2"/>
                </a:solidFill>
              </a:rPr>
              <a:t>Score</a:t>
            </a:r>
            <a:endParaRPr lang="en-US" sz="1500" dirty="0"/>
          </a:p>
        </p:txBody>
      </p:sp>
      <p:sp>
        <p:nvSpPr>
          <p:cNvPr id="20" name="Step desc 4"/>
          <p:cNvSpPr txBox="1"/>
          <p:nvPr/>
        </p:nvSpPr>
        <p:spPr>
          <a:xfrm>
            <a:off x="7315200" y="2651760"/>
            <a:ext cx="1463040" cy="457200"/>
          </a:xfrm>
          <a:prstGeom prst="rect">
            <a:avLst/>
          </a:prstGeom>
          <a:noFill/>
          <a:ln/>
        </p:spPr>
        <p:txBody>
          <a:bodyPr wrap="square" lIns="0" tIns="0" rIns="0" bIns="0" rtlCol="0" anchor="t"/>
          <a:lstStyle/>
          <a:p>
            <a:pPr indent="0" marL="0">
              <a:buNone/>
            </a:pPr>
            <a:r>
              <a:rPr lang="en-US" sz="1200" dirty="0">
                <a:solidFill>
                  <a:schemeClr val="tx1"/>
                </a:solidFill>
              </a:rPr>
              <a:t>+3 → Positive</a:t>
            </a:r>
            <a:endParaRPr lang="en-US" sz="1200" dirty="0"/>
          </a:p>
        </p:txBody>
      </p:sp>
      <p:sp>
        <p:nvSpPr>
          <p:cNvPr id="21" name="Text 19"/>
          <p:cNvSpPr txBox="1"/>
          <p:nvPr/>
        </p:nvSpPr>
        <p:spPr>
          <a:xfrm>
            <a:off x="457200" y="3337560"/>
            <a:ext cx="8229600" cy="137160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The lexicon is specific to startup news, because general lexicons misread business text (Loughran &amp; McDonald, 2011)</a:t>
            </a:r>
            <a:endParaRPr lang="en-US" sz="1400" dirty="0"/>
          </a:p>
          <a:p>
            <a:pPr marL="342900" indent="-342900">
              <a:spcAft>
                <a:spcPts val="800"/>
              </a:spcAft>
              <a:buSzPct val="100000"/>
              <a:buChar char="•"/>
            </a:pPr>
            <a:r>
              <a:rPr lang="en-US" sz="1400" dirty="0">
                <a:solidFill>
                  <a:schemeClr val="tx1"/>
                </a:solidFill>
              </a:rPr>
              <a:t>Name matching rejects false hits, e.g. “tomato barons…” returned for Kabbage</a:t>
            </a:r>
            <a:endParaRPr lang="en-US" sz="1400" dirty="0"/>
          </a:p>
          <a:p>
            <a:pPr marL="342900" indent="-342900">
              <a:spcAft>
                <a:spcPts val="800"/>
              </a:spcAft>
              <a:buSzPct val="100000"/>
              <a:buChar char="•"/>
            </a:pPr>
            <a:r>
              <a:rPr lang="en-US" sz="1400" dirty="0">
                <a:solidFill>
                  <a:schemeClr val="tx1"/>
                </a:solidFill>
              </a:rPr>
              <a:t>Known limits: no negation (“can't buy success” scores Neutral), no stemming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rPr>
              <a:t>Why leftOuterJoin, not join</a:t>
            </a:r>
            <a:endParaRPr lang="en-US" sz="2800" dirty="0"/>
          </a:p>
        </p:txBody>
      </p:sp>
      <p:sp>
        <p:nvSpPr>
          <p:cNvPr id="3" name="Inner join card"/>
          <p:cNvSpPr/>
          <p:nvPr/>
        </p:nvSpPr>
        <p:spPr>
          <a:xfrm>
            <a:off x="457200" y="1188720"/>
            <a:ext cx="3977640" cy="1828800"/>
          </a:xfrm>
          <a:prstGeom prst="roundRect">
            <a:avLst>
              <a:gd name="adj" fmla="val 4000"/>
            </a:avLst>
          </a:prstGeom>
          <a:solidFill>
            <a:srgbClr val="FBE5E3"/>
          </a:solidFill>
          <a:ln w="12700">
            <a:solidFill>
              <a:srgbClr val="FBE5E3"/>
            </a:solidFill>
            <a:prstDash val="solid"/>
          </a:ln>
        </p:spPr>
      </p:sp>
      <p:sp>
        <p:nvSpPr>
          <p:cNvPr id="4" name="Left join card"/>
          <p:cNvSpPr/>
          <p:nvPr/>
        </p:nvSpPr>
        <p:spPr>
          <a:xfrm>
            <a:off x="4709160" y="1188720"/>
            <a:ext cx="3977640" cy="1828800"/>
          </a:xfrm>
          <a:prstGeom prst="roundRect">
            <a:avLst>
              <a:gd name="adj" fmla="val 4000"/>
            </a:avLst>
          </a:prstGeom>
          <a:solidFill>
            <a:srgbClr val="E3F3EC"/>
          </a:solidFill>
          <a:ln w="12700">
            <a:solidFill>
              <a:srgbClr val="E3F3EC"/>
            </a:solidFill>
            <a:prstDash val="solid"/>
          </a:ln>
        </p:spPr>
      </p:sp>
      <p:sp>
        <p:nvSpPr>
          <p:cNvPr id="5" name="Stat inner number"/>
          <p:cNvSpPr txBox="1"/>
          <p:nvPr/>
        </p:nvSpPr>
        <p:spPr>
          <a:xfrm>
            <a:off x="685800" y="1371600"/>
            <a:ext cx="356616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3</a:t>
            </a:r>
            <a:endParaRPr lang="en-US" sz="4000" dirty="0"/>
          </a:p>
        </p:txBody>
      </p:sp>
      <p:sp>
        <p:nvSpPr>
          <p:cNvPr id="6" name="Stat inner label"/>
          <p:cNvSpPr txBox="1"/>
          <p:nvPr/>
        </p:nvSpPr>
        <p:spPr>
          <a:xfrm>
            <a:off x="685800" y="2084832"/>
            <a:ext cx="3566160" cy="548640"/>
          </a:xfrm>
          <a:prstGeom prst="rect">
            <a:avLst/>
          </a:prstGeom>
          <a:noFill/>
          <a:ln/>
        </p:spPr>
        <p:txBody>
          <a:bodyPr wrap="square" lIns="0" tIns="0" rIns="0" bIns="0" rtlCol="0" anchor="t"/>
          <a:lstStyle/>
          <a:p>
            <a:pPr indent="0" marL="0">
              <a:buNone/>
            </a:pPr>
            <a:r>
              <a:rPr lang="en-US" sz="1200" dirty="0">
                <a:solidFill>
                  <a:schemeClr val="tx1"/>
                </a:solidFill>
              </a:rPr>
              <a:t>startups kept by an inner join: only those with news, and biased to well-funded companies</a:t>
            </a:r>
            <a:endParaRPr lang="en-US" sz="1200" dirty="0"/>
          </a:p>
        </p:txBody>
      </p:sp>
      <p:sp>
        <p:nvSpPr>
          <p:cNvPr id="7" name="Stat left number"/>
          <p:cNvSpPr txBox="1"/>
          <p:nvPr/>
        </p:nvSpPr>
        <p:spPr>
          <a:xfrm>
            <a:off x="4937760" y="1371600"/>
            <a:ext cx="356616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22,075</a:t>
            </a:r>
            <a:endParaRPr lang="en-US" sz="4000" dirty="0"/>
          </a:p>
        </p:txBody>
      </p:sp>
      <p:sp>
        <p:nvSpPr>
          <p:cNvPr id="8" name="Stat left label"/>
          <p:cNvSpPr txBox="1"/>
          <p:nvPr/>
        </p:nvSpPr>
        <p:spPr>
          <a:xfrm>
            <a:off x="4937760" y="2084832"/>
            <a:ext cx="3566160" cy="548640"/>
          </a:xfrm>
          <a:prstGeom prst="rect">
            <a:avLst/>
          </a:prstGeom>
          <a:noFill/>
          <a:ln/>
        </p:spPr>
        <p:txBody>
          <a:bodyPr wrap="square" lIns="0" tIns="0" rIns="0" bIns="0" rtlCol="0" anchor="t"/>
          <a:lstStyle/>
          <a:p>
            <a:pPr indent="0" marL="0">
              <a:buNone/>
            </a:pPr>
            <a:r>
              <a:rPr lang="en-US" sz="1200" dirty="0">
                <a:solidFill>
                  <a:schemeClr val="tx1"/>
                </a:solidFill>
              </a:rPr>
              <a:t>startups kept by leftOuterJoin: those without news get a zero-baseline record</a:t>
            </a:r>
            <a:endParaRPr lang="en-US" sz="1200" dirty="0"/>
          </a:p>
        </p:txBody>
      </p:sp>
      <p:sp>
        <p:nvSpPr>
          <p:cNvPr id="9" name="Text 7"/>
          <p:cNvSpPr txBox="1"/>
          <p:nvPr/>
        </p:nvSpPr>
        <p:spPr>
          <a:xfrm>
            <a:off x="457200" y="3337560"/>
            <a:ext cx="8229600" cy="109728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Startup RDD (k = permalink) ⟕ News RDD, after groupByKey per startup</a:t>
            </a:r>
            <a:endParaRPr lang="en-US" sz="1500" dirty="0"/>
          </a:p>
          <a:p>
            <a:pPr marL="342900" indent="-342900">
              <a:spcAft>
                <a:spcPts val="800"/>
              </a:spcAft>
              <a:buSzPct val="100000"/>
              <a:buChar char="•"/>
            </a:pPr>
            <a:r>
              <a:rPr lang="en-US" sz="1500" dirty="0">
                <a:solidFill>
                  <a:schemeClr val="tx1"/>
                </a:solidFill>
              </a:rPr>
              <a:t>reduceByKey for label counts; the joined RDD is persisted because it feeds both feature sets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rPr>
              <a:t>Accuracy is the wrong yardstick here</a:t>
            </a:r>
            <a:endParaRPr lang="en-US" sz="2800" dirty="0"/>
          </a:p>
        </p:txBody>
      </p:sp>
      <p:sp>
        <p:nvSpPr>
          <p:cNvPr id="3" name="Stat trivial number"/>
          <p:cNvSpPr txBox="1"/>
          <p:nvPr/>
        </p:nvSpPr>
        <p:spPr>
          <a:xfrm>
            <a:off x="457200" y="1280160"/>
            <a:ext cx="2651760" cy="685800"/>
          </a:xfrm>
          <a:prstGeom prst="rect">
            <a:avLst/>
          </a:prstGeom>
          <a:noFill/>
          <a:ln/>
        </p:spPr>
        <p:txBody>
          <a:bodyPr wrap="square" lIns="0" tIns="0" rIns="0" bIns="0" rtlCol="0" anchor="t"/>
          <a:lstStyle/>
          <a:p>
            <a:pPr indent="0" marL="0">
              <a:buNone/>
            </a:pPr>
            <a:r>
              <a:rPr lang="en-US" sz="3600" b="1" dirty="0">
                <a:solidFill>
                  <a:schemeClr val="accent5"/>
                </a:solidFill>
                <a:latin typeface="Cambria" pitchFamily="34" charset="0"/>
                <a:ea typeface="Cambria" pitchFamily="34" charset="-122"/>
                <a:cs typeface="Cambria" pitchFamily="34" charset="-120"/>
              </a:rPr>
              <a:t>87.2%</a:t>
            </a:r>
            <a:endParaRPr lang="en-US" sz="3600" dirty="0"/>
          </a:p>
        </p:txBody>
      </p:sp>
      <p:sp>
        <p:nvSpPr>
          <p:cNvPr id="4" name="Stat trivial label"/>
          <p:cNvSpPr txBox="1"/>
          <p:nvPr/>
        </p:nvSpPr>
        <p:spPr>
          <a:xfrm>
            <a:off x="457200" y="1993392"/>
            <a:ext cx="2651760" cy="548640"/>
          </a:xfrm>
          <a:prstGeom prst="rect">
            <a:avLst/>
          </a:prstGeom>
          <a:noFill/>
          <a:ln/>
        </p:spPr>
        <p:txBody>
          <a:bodyPr wrap="square" lIns="0" tIns="0" rIns="0" bIns="0" rtlCol="0" anchor="t"/>
          <a:lstStyle/>
          <a:p>
            <a:pPr indent="0" marL="0">
              <a:buNone/>
            </a:pPr>
            <a:r>
              <a:rPr lang="en-US" sz="1200" dirty="0">
                <a:solidFill>
                  <a:schemeClr val="tx1"/>
                </a:solidFill>
              </a:rPr>
              <a:t>accuracy of always predicting “operating”, which is useless</a:t>
            </a:r>
            <a:endParaRPr lang="en-US" sz="1200" dirty="0"/>
          </a:p>
        </p:txBody>
      </p:sp>
      <p:sp>
        <p:nvSpPr>
          <p:cNvPr id="5" name="Stat collapse number"/>
          <p:cNvSpPr txBox="1"/>
          <p:nvPr/>
        </p:nvSpPr>
        <p:spPr>
          <a:xfrm>
            <a:off x="3246120" y="1280160"/>
            <a:ext cx="2651760" cy="68580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TN = 0</a:t>
            </a:r>
            <a:endParaRPr lang="en-US" sz="3600" dirty="0"/>
          </a:p>
        </p:txBody>
      </p:sp>
      <p:sp>
        <p:nvSpPr>
          <p:cNvPr id="6" name="Stat collapse label"/>
          <p:cNvSpPr txBox="1"/>
          <p:nvPr/>
        </p:nvSpPr>
        <p:spPr>
          <a:xfrm>
            <a:off x="3246120" y="1993392"/>
            <a:ext cx="2651760" cy="548640"/>
          </a:xfrm>
          <a:prstGeom prst="rect">
            <a:avLst/>
          </a:prstGeom>
          <a:noFill/>
          <a:ln/>
        </p:spPr>
        <p:txBody>
          <a:bodyPr wrap="square" lIns="0" tIns="0" rIns="0" bIns="0" rtlCol="0" anchor="t"/>
          <a:lstStyle/>
          <a:p>
            <a:pPr indent="0" marL="0">
              <a:buNone/>
            </a:pPr>
            <a:r>
              <a:rPr lang="en-US" sz="1200" dirty="0">
                <a:solidFill>
                  <a:schemeClr val="tx1"/>
                </a:solidFill>
              </a:rPr>
              <a:t>first unweighted SVM run: it never caught a closure</a:t>
            </a:r>
            <a:endParaRPr lang="en-US" sz="1200" dirty="0"/>
          </a:p>
        </p:txBody>
      </p:sp>
      <p:sp>
        <p:nvSpPr>
          <p:cNvPr id="7" name="Stat weights number"/>
          <p:cNvSpPr txBox="1"/>
          <p:nvPr/>
        </p:nvSpPr>
        <p:spPr>
          <a:xfrm>
            <a:off x="6035040" y="1280160"/>
            <a:ext cx="2651760" cy="68580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×3.78</a:t>
            </a:r>
            <a:endParaRPr lang="en-US" sz="3600" dirty="0"/>
          </a:p>
        </p:txBody>
      </p:sp>
      <p:sp>
        <p:nvSpPr>
          <p:cNvPr id="8" name="Stat weights label"/>
          <p:cNvSpPr txBox="1"/>
          <p:nvPr/>
        </p:nvSpPr>
        <p:spPr>
          <a:xfrm>
            <a:off x="6035040" y="1993392"/>
            <a:ext cx="2651760" cy="548640"/>
          </a:xfrm>
          <a:prstGeom prst="rect">
            <a:avLst/>
          </a:prstGeom>
          <a:noFill/>
          <a:ln/>
        </p:spPr>
        <p:txBody>
          <a:bodyPr wrap="square" lIns="0" tIns="0" rIns="0" bIns="0" rtlCol="0" anchor="t"/>
          <a:lstStyle/>
          <a:p>
            <a:pPr indent="0" marL="0">
              <a:buNone/>
            </a:pPr>
            <a:r>
              <a:rPr lang="en-US" sz="1200" dirty="0">
                <a:solidFill>
                  <a:schemeClr val="tx1"/>
                </a:solidFill>
              </a:rPr>
              <a:t>weight on each closed startup (operating ×0.58), from the training split only</a:t>
            </a:r>
            <a:endParaRPr lang="en-US" sz="1200" dirty="0"/>
          </a:p>
        </p:txBody>
      </p:sp>
      <p:sp>
        <p:nvSpPr>
          <p:cNvPr id="9" name="Text 7"/>
          <p:cNvSpPr txBox="1"/>
          <p:nvPr/>
        </p:nvSpPr>
        <p:spPr>
          <a:xfrm>
            <a:off x="457200" y="2880360"/>
            <a:ext cx="8229600" cy="173736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Balanced weights: w_c = N / (2·N_c), so both classes contribute equally to the loss</a:t>
            </a:r>
            <a:endParaRPr lang="en-US" sz="1400" dirty="0"/>
          </a:p>
          <a:p>
            <a:pPr marL="342900" indent="-342900">
              <a:spcAft>
                <a:spcPts val="800"/>
              </a:spcAft>
              <a:buSzPct val="100000"/>
              <a:buChar char="•"/>
            </a:pPr>
            <a:r>
              <a:rPr lang="en-US" sz="1400" dirty="0">
                <a:solidFill>
                  <a:schemeClr val="tx1"/>
                </a:solidFill>
              </a:rPr>
              <a:t>Primary metrics: AUC-ROC and closed-class F1; accuracy is reported only for completeness</a:t>
            </a:r>
            <a:endParaRPr lang="en-US" sz="1400" dirty="0"/>
          </a:p>
          <a:p>
            <a:pPr marL="342900" indent="-342900">
              <a:spcAft>
                <a:spcPts val="800"/>
              </a:spcAft>
              <a:buSzPct val="100000"/>
              <a:buChar char="•"/>
            </a:pPr>
            <a:r>
              <a:rPr lang="en-US" sz="1400" dirty="0">
                <a:solidFill>
                  <a:schemeClr val="tx1"/>
                </a:solidFill>
              </a:rPr>
              <a:t>Both models: L2 λ = 0.01, 100 iterations, 80/20 split, seed 42, the same split for all four experiments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rPr>
              <a:t>Four experiments, two clear pairs</a:t>
            </a:r>
            <a:endParaRPr lang="en-US" sz="2800" dirty="0"/>
          </a:p>
        </p:txBody>
      </p:sp>
      <p:graphicFrame>
        <p:nvGraphicFramePr>
          <p:cNvPr id="3" name="Results chart" descr=""/>
          <p:cNvGraphicFramePr/>
          <p:nvPr/>
        </p:nvGraphicFramePr>
        <p:xfrm>
          <a:off x="457200" y="1051560"/>
          <a:ext cx="8229600" cy="3611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rPr>
              <a:t>Sentiment changed almost nothing</a:t>
            </a:r>
            <a:endParaRPr lang="en-US" sz="2800" dirty="0"/>
          </a:p>
        </p:txBody>
      </p:sp>
      <p:sp>
        <p:nvSpPr>
          <p:cNvPr id="3" name="Stat dLR number"/>
          <p:cNvSpPr txBox="1"/>
          <p:nvPr/>
        </p:nvSpPr>
        <p:spPr>
          <a:xfrm>
            <a:off x="457200" y="1234440"/>
            <a:ext cx="2651760" cy="68580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ΔAUC −0.00003</a:t>
            </a:r>
            <a:endParaRPr lang="en-US" sz="2400" dirty="0"/>
          </a:p>
        </p:txBody>
      </p:sp>
      <p:sp>
        <p:nvSpPr>
          <p:cNvPr id="4" name="Stat dLR label"/>
          <p:cNvSpPr txBox="1"/>
          <p:nvPr/>
        </p:nvSpPr>
        <p:spPr>
          <a:xfrm>
            <a:off x="457200" y="1947672"/>
            <a:ext cx="2651760" cy="548640"/>
          </a:xfrm>
          <a:prstGeom prst="rect">
            <a:avLst/>
          </a:prstGeom>
          <a:noFill/>
          <a:ln/>
        </p:spPr>
        <p:txBody>
          <a:bodyPr wrap="square" lIns="0" tIns="0" rIns="0" bIns="0" rtlCol="0" anchor="t"/>
          <a:lstStyle/>
          <a:p>
            <a:pPr indent="0" marL="0">
              <a:buNone/>
            </a:pPr>
            <a:r>
              <a:rPr lang="en-US" sz="1200" dirty="0">
                <a:solidFill>
                  <a:schemeClr val="tx1"/>
                </a:solidFill>
              </a:rPr>
              <a:t>Logistic Regression (E3 − E1)</a:t>
            </a:r>
            <a:endParaRPr lang="en-US" sz="1200" dirty="0"/>
          </a:p>
        </p:txBody>
      </p:sp>
      <p:sp>
        <p:nvSpPr>
          <p:cNvPr id="5" name="Stat dSVM number"/>
          <p:cNvSpPr txBox="1"/>
          <p:nvPr/>
        </p:nvSpPr>
        <p:spPr>
          <a:xfrm>
            <a:off x="3246120" y="1234440"/>
            <a:ext cx="2651760" cy="68580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ΔAUC +0.0005</a:t>
            </a:r>
            <a:endParaRPr lang="en-US" sz="2400" dirty="0"/>
          </a:p>
        </p:txBody>
      </p:sp>
      <p:sp>
        <p:nvSpPr>
          <p:cNvPr id="6" name="Stat dSVM label"/>
          <p:cNvSpPr txBox="1"/>
          <p:nvPr/>
        </p:nvSpPr>
        <p:spPr>
          <a:xfrm>
            <a:off x="3246120" y="1947672"/>
            <a:ext cx="2651760" cy="548640"/>
          </a:xfrm>
          <a:prstGeom prst="rect">
            <a:avLst/>
          </a:prstGeom>
          <a:noFill/>
          <a:ln/>
        </p:spPr>
        <p:txBody>
          <a:bodyPr wrap="square" lIns="0" tIns="0" rIns="0" bIns="0" rtlCol="0" anchor="t"/>
          <a:lstStyle/>
          <a:p>
            <a:pPr indent="0" marL="0">
              <a:buNone/>
            </a:pPr>
            <a:r>
              <a:rPr lang="en-US" sz="1200" dirty="0">
                <a:solidFill>
                  <a:schemeClr val="tx1"/>
                </a:solidFill>
              </a:rPr>
              <a:t>Linear SVM (E4 − E2): identical predictions</a:t>
            </a:r>
            <a:endParaRPr lang="en-US" sz="1200" dirty="0"/>
          </a:p>
        </p:txBody>
      </p:sp>
      <p:sp>
        <p:nvSpPr>
          <p:cNvPr id="7" name="Stat coverage number"/>
          <p:cNvSpPr txBox="1"/>
          <p:nvPr/>
        </p:nvSpPr>
        <p:spPr>
          <a:xfrm>
            <a:off x="6035040" y="1234440"/>
            <a:ext cx="2651760" cy="68580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3 / 22,075</a:t>
            </a:r>
            <a:endParaRPr lang="en-US" sz="3000" dirty="0"/>
          </a:p>
        </p:txBody>
      </p:sp>
      <p:sp>
        <p:nvSpPr>
          <p:cNvPr id="8" name="Stat coverage label"/>
          <p:cNvSpPr txBox="1"/>
          <p:nvPr/>
        </p:nvSpPr>
        <p:spPr>
          <a:xfrm>
            <a:off x="6035040" y="1947672"/>
            <a:ext cx="2651760" cy="548640"/>
          </a:xfrm>
          <a:prstGeom prst="rect">
            <a:avLst/>
          </a:prstGeom>
          <a:noFill/>
          <a:ln/>
        </p:spPr>
        <p:txBody>
          <a:bodyPr wrap="square" lIns="0" tIns="0" rIns="0" bIns="0" rtlCol="0" anchor="t"/>
          <a:lstStyle/>
          <a:p>
            <a:pPr indent="0" marL="0">
              <a:buNone/>
            </a:pPr>
            <a:r>
              <a:rPr lang="en-US" sz="1200" dirty="0">
                <a:solidFill>
                  <a:schemeClr val="tx1"/>
                </a:solidFill>
              </a:rPr>
              <a:t>startups with any matched news (0.014%)</a:t>
            </a:r>
            <a:endParaRPr lang="en-US" sz="1200" dirty="0"/>
          </a:p>
        </p:txBody>
      </p:sp>
      <p:sp>
        <p:nvSpPr>
          <p:cNvPr id="9" name="Interpretation card"/>
          <p:cNvSpPr/>
          <p:nvPr/>
        </p:nvSpPr>
        <p:spPr>
          <a:xfrm>
            <a:off x="457200" y="2834640"/>
            <a:ext cx="8229600" cy="1691640"/>
          </a:xfrm>
          <a:prstGeom prst="roundRect">
            <a:avLst>
              <a:gd name="adj" fmla="val 4324"/>
            </a:avLst>
          </a:prstGeom>
          <a:solidFill>
            <a:schemeClr val="bg2"/>
          </a:solidFill>
          <a:ln w="12700">
            <a:solidFill>
              <a:schemeClr val="bg2"/>
            </a:solidFill>
            <a:prstDash val="solid"/>
          </a:ln>
        </p:spPr>
      </p:sp>
      <p:sp>
        <p:nvSpPr>
          <p:cNvPr id="10" name="Interpretation title"/>
          <p:cNvSpPr txBox="1"/>
          <p:nvPr/>
        </p:nvSpPr>
        <p:spPr>
          <a:xfrm>
            <a:off x="685800" y="2971800"/>
            <a:ext cx="7772400" cy="365760"/>
          </a:xfrm>
          <a:prstGeom prst="rect">
            <a:avLst/>
          </a:prstGeom>
          <a:noFill/>
          <a:ln/>
        </p:spPr>
        <p:txBody>
          <a:bodyPr wrap="square" lIns="0" tIns="0" rIns="0" bIns="0" rtlCol="0" anchor="t"/>
          <a:lstStyle/>
          <a:p>
            <a:pPr indent="0" marL="0">
              <a:buNone/>
            </a:pPr>
            <a:r>
              <a:rPr lang="en-US" sz="1700" b="1" dirty="0">
                <a:solidFill>
                  <a:schemeClr val="tx2"/>
                </a:solidFill>
              </a:rPr>
              <a:t>Inconclusive, not negative</a:t>
            </a:r>
            <a:endParaRPr lang="en-US" sz="1700" dirty="0"/>
          </a:p>
        </p:txBody>
      </p:sp>
      <p:sp>
        <p:nvSpPr>
          <p:cNvPr id="11" name="Interpretation body"/>
          <p:cNvSpPr txBox="1"/>
          <p:nvPr/>
        </p:nvSpPr>
        <p:spPr>
          <a:xfrm>
            <a:off x="685800" y="3383280"/>
            <a:ext cx="7772400" cy="1051560"/>
          </a:xfrm>
          <a:prstGeom prst="rect">
            <a:avLst/>
          </a:prstGeom>
          <a:noFill/>
          <a:ln/>
        </p:spPr>
        <p:txBody>
          <a:bodyPr wrap="square" lIns="0" tIns="0" rIns="0" bIns="0" rtlCol="0" anchor="t"/>
          <a:lstStyle/>
          <a:p>
            <a:pPr indent="0" marL="0">
              <a:buNone/>
            </a:pPr>
            <a:r>
              <a:rPr lang="en-US" sz="1400" dirty="0">
                <a:solidFill>
                  <a:schemeClr val="tx1"/>
                </a:solidFill>
              </a:rPr>
              <a:t>For 22,072 startups, every sentiment feature is a constant zero baseline, so the two feature sets are effectively identical. The experiment had no power to detect a sentiment effect. Batch news collection was planned but never run.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rPr>
              <a:t>Logistic Regression vs SVM: a threshold trade-off</a:t>
            </a:r>
            <a:endParaRPr lang="en-US" sz="2800" dirty="0"/>
          </a:p>
        </p:txBody>
      </p:sp>
      <p:graphicFrame>
        <p:nvGraphicFramePr>
          <p:cNvPr id="3" name="Model chart" descr=""/>
          <p:cNvGraphicFramePr/>
          <p:nvPr/>
        </p:nvGraphicFramePr>
        <p:xfrm>
          <a:off x="457200" y="105156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806440" y="1188720"/>
            <a:ext cx="2880360" cy="3383280"/>
          </a:xfrm>
          <a:prstGeom prst="rect">
            <a:avLst/>
          </a:prstGeom>
          <a:noFill/>
          <a:ln/>
        </p:spPr>
        <p:txBody>
          <a:bodyPr wrap="square" rtlCol="0" anchor="t"/>
          <a:lstStyle/>
          <a:p>
            <a:pPr marL="342900" indent="-342900">
              <a:spcAft>
                <a:spcPts val="800"/>
              </a:spcAft>
              <a:buSzPct val="100000"/>
              <a:buChar char="•"/>
            </a:pPr>
            <a:r>
              <a:rPr lang="en-US" sz="1300" dirty="0">
                <a:solidFill>
                  <a:schemeClr val="tx1"/>
                </a:solidFill>
              </a:rPr>
              <a:t>SVM ranks better (AUC 0.726) and catches 92% of closures</a:t>
            </a:r>
            <a:endParaRPr lang="en-US" sz="1300" dirty="0"/>
          </a:p>
          <a:p>
            <a:pPr marL="342900" indent="-342900">
              <a:spcAft>
                <a:spcPts val="800"/>
              </a:spcAft>
              <a:buSzPct val="100000"/>
              <a:buChar char="•"/>
            </a:pPr>
            <a:r>
              <a:rPr lang="en-US" sz="1300" dirty="0">
                <a:solidFill>
                  <a:schemeClr val="tx1"/>
                </a:solidFill>
              </a:rPr>
              <a:t>…but at margin 0 it flags 66% of operating startups as closed</a:t>
            </a:r>
            <a:endParaRPr lang="en-US" sz="1300" dirty="0"/>
          </a:p>
          <a:p>
            <a:pPr marL="342900" indent="-342900">
              <a:spcAft>
                <a:spcPts val="800"/>
              </a:spcAft>
              <a:buSzPct val="100000"/>
              <a:buChar char="•"/>
            </a:pPr>
            <a:r>
              <a:rPr lang="en-US" sz="1300" dirty="0">
                <a:solidFill>
                  <a:schemeClr val="tx1"/>
                </a:solidFill>
              </a:rPr>
              <a:t>LR is better balanced and gives probabilities, so it powers the dashboard</a:t>
            </a:r>
            <a:endParaRPr lang="en-US" sz="1300" dirty="0"/>
          </a:p>
          <a:p>
            <a:pPr marL="342900" indent="-342900">
              <a:spcAft>
                <a:spcPts val="800"/>
              </a:spcAft>
              <a:buSzPct val="100000"/>
              <a:buChar char="•"/>
            </a:pPr>
            <a:r>
              <a:rPr lang="en-US" sz="1300" dirty="0">
                <a:solidFill>
                  <a:schemeClr val="tx1"/>
                </a:solidFill>
              </a:rPr>
              <a:t>Next: tune the threshold on a validation split (never on the test set)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rPr>
              <a:t>A leakage path we found ourselves</a:t>
            </a:r>
            <a:endParaRPr lang="en-US" sz="2800" dirty="0"/>
          </a:p>
        </p:txBody>
      </p:sp>
      <p:sp>
        <p:nvSpPr>
          <p:cNvPr id="3" name="Coefficient card"/>
          <p:cNvSpPr/>
          <p:nvPr/>
        </p:nvSpPr>
        <p:spPr>
          <a:xfrm>
            <a:off x="457200" y="1188720"/>
            <a:ext cx="3291840" cy="1920240"/>
          </a:xfrm>
          <a:prstGeom prst="roundRect">
            <a:avLst>
              <a:gd name="adj" fmla="val 3810"/>
            </a:avLst>
          </a:prstGeom>
          <a:solidFill>
            <a:srgbClr val="FBE5E3"/>
          </a:solidFill>
          <a:ln w="12700">
            <a:solidFill>
              <a:srgbClr val="FBE5E3"/>
            </a:solidFill>
            <a:prstDash val="solid"/>
          </a:ln>
        </p:spPr>
      </p:sp>
      <p:sp>
        <p:nvSpPr>
          <p:cNvPr id="4" name="Stat coef number"/>
          <p:cNvSpPr txBox="1"/>
          <p:nvPr/>
        </p:nvSpPr>
        <p:spPr>
          <a:xfrm>
            <a:off x="685800" y="1371600"/>
            <a:ext cx="283464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−1.26</a:t>
            </a:r>
            <a:endParaRPr lang="en-US" sz="4000" dirty="0"/>
          </a:p>
        </p:txBody>
      </p:sp>
      <p:sp>
        <p:nvSpPr>
          <p:cNvPr id="5" name="Stat coef label"/>
          <p:cNvSpPr txBox="1"/>
          <p:nvPr/>
        </p:nvSpPr>
        <p:spPr>
          <a:xfrm>
            <a:off x="685800" y="2084832"/>
            <a:ext cx="2834640" cy="548640"/>
          </a:xfrm>
          <a:prstGeom prst="rect">
            <a:avLst/>
          </a:prstGeom>
          <a:noFill/>
          <a:ln/>
        </p:spPr>
        <p:txBody>
          <a:bodyPr wrap="square" lIns="0" tIns="0" rIns="0" bIns="0" rtlCol="0" anchor="t"/>
          <a:lstStyle/>
          <a:p>
            <a:pPr indent="0" marL="0">
              <a:buNone/>
            </a:pPr>
            <a:r>
              <a:rPr lang="en-US" sz="1200" dirty="0">
                <a:solidFill>
                  <a:schemeClr val="tx1"/>
                </a:solidFill>
              </a:rPr>
              <a:t>LR coefficient on fundingDataLeakageSafe, the largest in the model</a:t>
            </a:r>
            <a:endParaRPr lang="en-US" sz="1200" dirty="0"/>
          </a:p>
        </p:txBody>
      </p:sp>
      <p:sp>
        <p:nvSpPr>
          <p:cNvPr id="6" name="Text 4"/>
          <p:cNvSpPr txBox="1"/>
          <p:nvPr/>
        </p:nvSpPr>
        <p:spPr>
          <a:xfrm>
            <a:off x="4023360" y="1188720"/>
            <a:ext cx="4663440" cy="338328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Flag = 0 means the last round was on or after the cutoff, i.e. the company was still raising money after 2013</a:t>
            </a:r>
            <a:endParaRPr lang="en-US" sz="1400" dirty="0"/>
          </a:p>
          <a:p>
            <a:pPr marL="342900" indent="-342900">
              <a:spcAft>
                <a:spcPts val="800"/>
              </a:spcAft>
              <a:buSzPct val="100000"/>
              <a:buChar char="•"/>
            </a:pPr>
            <a:r>
              <a:rPr lang="en-US" sz="1400" dirty="0">
                <a:solidFill>
                  <a:schemeClr val="tx1"/>
                </a:solidFill>
              </a:rPr>
              <a:t>The guard blocked post-cutoff amounts but exposed post-cutoff events</a:t>
            </a:r>
            <a:endParaRPr lang="en-US" sz="1400" dirty="0"/>
          </a:p>
          <a:p>
            <a:pPr marL="342900" indent="-342900">
              <a:spcAft>
                <a:spcPts val="800"/>
              </a:spcAft>
              <a:buSzPct val="100000"/>
              <a:buChar char="•"/>
            </a:pPr>
            <a:r>
              <a:rPr lang="en-US" sz="1400" dirty="0">
                <a:solidFill>
                  <a:schemeClr val="tx1"/>
                </a:solidFill>
              </a:rPr>
              <a:t>Absolute AUC is likely optimistic; the sentiment comparison is still fair because both sets share the flag</a:t>
            </a:r>
            <a:endParaRPr lang="en-US" sz="1400" dirty="0"/>
          </a:p>
          <a:p>
            <a:pPr marL="342900" indent="-342900">
              <a:spcAft>
                <a:spcPts val="800"/>
              </a:spcAft>
              <a:buSzPct val="100000"/>
              <a:buChar char="•"/>
            </a:pPr>
            <a:r>
              <a:rPr lang="en-US" sz="1400" dirty="0">
                <a:solidFill>
                  <a:schemeClr val="tx1"/>
                </a:solidFill>
              </a:rPr>
              <a:t>Fix: drop the flag and rebuild recency from round-level dates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rPr>
              <a:t>Limitations and next steps</a:t>
            </a:r>
            <a:endParaRPr lang="en-US" sz="2800" dirty="0"/>
          </a:p>
        </p:txBody>
      </p:sp>
      <p:sp>
        <p:nvSpPr>
          <p:cNvPr id="3" name="Limits title"/>
          <p:cNvSpPr txBox="1"/>
          <p:nvPr/>
        </p:nvSpPr>
        <p:spPr>
          <a:xfrm>
            <a:off x="457200" y="1143000"/>
            <a:ext cx="3931920" cy="36576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Limitations</a:t>
            </a:r>
            <a:endParaRPr lang="en-US" sz="1800" dirty="0"/>
          </a:p>
        </p:txBody>
      </p:sp>
      <p:sp>
        <p:nvSpPr>
          <p:cNvPr id="4" name="Text 2"/>
          <p:cNvSpPr txBox="1"/>
          <p:nvPr/>
        </p:nvSpPr>
        <p:spPr>
          <a:xfrm>
            <a:off x="457200" y="1600200"/>
            <a:ext cx="3931920" cy="301752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News for only 3 startups</a:t>
            </a:r>
            <a:endParaRPr lang="en-US" sz="1400" dirty="0"/>
          </a:p>
          <a:p>
            <a:pPr marL="342900" indent="-342900">
              <a:spcAft>
                <a:spcPts val="800"/>
              </a:spcAft>
              <a:buSzPct val="100000"/>
              <a:buChar char="•"/>
            </a:pPr>
            <a:r>
              <a:rPr lang="en-US" sz="1400" dirty="0">
                <a:solidFill>
                  <a:schemeClr val="tx1"/>
                </a:solidFill>
              </a:rPr>
              <a:t>Leaky funding-recency indicator</a:t>
            </a:r>
            <a:endParaRPr lang="en-US" sz="1400" dirty="0"/>
          </a:p>
          <a:p>
            <a:pPr marL="342900" indent="-342900">
              <a:spcAft>
                <a:spcPts val="800"/>
              </a:spcAft>
              <a:buSzPct val="100000"/>
              <a:buChar char="•"/>
            </a:pPr>
            <a:r>
              <a:rPr lang="en-US" sz="1400" dirty="0">
                <a:solidFill>
                  <a:schemeClr val="tx1"/>
                </a:solidFill>
              </a:rPr>
              <a:t>Lexicon: no negation or stemming</a:t>
            </a:r>
            <a:endParaRPr lang="en-US" sz="1400" dirty="0"/>
          </a:p>
          <a:p>
            <a:pPr marL="342900" indent="-342900">
              <a:spcAft>
                <a:spcPts val="800"/>
              </a:spcAft>
              <a:buSzPct val="100000"/>
              <a:buChar char="•"/>
            </a:pPr>
            <a:r>
              <a:rPr lang="en-US" sz="1400" dirty="0">
                <a:solidFill>
                  <a:schemeClr val="tx1"/>
                </a:solidFill>
              </a:rPr>
              <a:t>Single split with no confidence intervals</a:t>
            </a:r>
            <a:endParaRPr lang="en-US" sz="1400" dirty="0"/>
          </a:p>
          <a:p>
            <a:pPr marL="342900" indent="-342900">
              <a:spcAft>
                <a:spcPts val="800"/>
              </a:spcAft>
              <a:buSzPct val="100000"/>
              <a:buChar char="•"/>
            </a:pPr>
            <a:r>
              <a:rPr lang="en-US" sz="1400" dirty="0">
                <a:solidFill>
                  <a:schemeClr val="tx1"/>
                </a:solidFill>
              </a:rPr>
              <a:t>Single-node cluster</a:t>
            </a:r>
            <a:endParaRPr lang="en-US" sz="1400" dirty="0"/>
          </a:p>
        </p:txBody>
      </p:sp>
      <p:sp>
        <p:nvSpPr>
          <p:cNvPr id="5" name="Next title"/>
          <p:cNvSpPr txBox="1"/>
          <p:nvPr/>
        </p:nvSpPr>
        <p:spPr>
          <a:xfrm>
            <a:off x="4754880" y="1143000"/>
            <a:ext cx="3931920" cy="36576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Next steps</a:t>
            </a:r>
            <a:endParaRPr lang="en-US" sz="1800" dirty="0"/>
          </a:p>
        </p:txBody>
      </p:sp>
      <p:sp>
        <p:nvSpPr>
          <p:cNvPr id="6" name="Text 4"/>
          <p:cNvSpPr txBox="1"/>
          <p:nvPr/>
        </p:nvSpPr>
        <p:spPr>
          <a:xfrm>
            <a:off x="4754880" y="1600200"/>
            <a:ext cx="3931920" cy="301752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Batch news collection, then re-run E1–E4</a:t>
            </a:r>
            <a:endParaRPr lang="en-US" sz="1400" dirty="0"/>
          </a:p>
          <a:p>
            <a:pPr marL="342900" indent="-342900">
              <a:spcAft>
                <a:spcPts val="800"/>
              </a:spcAft>
              <a:buSzPct val="100000"/>
              <a:buChar char="•"/>
            </a:pPr>
            <a:r>
              <a:rPr lang="en-US" sz="1400" dirty="0">
                <a:solidFill>
                  <a:schemeClr val="tx1"/>
                </a:solidFill>
              </a:rPr>
              <a:t>Remove the flag and use round-level dates</a:t>
            </a:r>
            <a:endParaRPr lang="en-US" sz="1400" dirty="0"/>
          </a:p>
          <a:p>
            <a:pPr marL="342900" indent="-342900">
              <a:spcAft>
                <a:spcPts val="800"/>
              </a:spcAft>
              <a:buSzPct val="100000"/>
              <a:buChar char="•"/>
            </a:pPr>
            <a:r>
              <a:rPr lang="en-US" sz="1400" dirty="0">
                <a:solidFill>
                  <a:schemeClr val="tx1"/>
                </a:solidFill>
              </a:rPr>
              <a:t>Threshold tuning and k-fold cross-validation</a:t>
            </a:r>
            <a:endParaRPr lang="en-US" sz="1400" dirty="0"/>
          </a:p>
          <a:p>
            <a:pPr marL="342900" indent="-342900">
              <a:spcAft>
                <a:spcPts val="800"/>
              </a:spcAft>
              <a:buSzPct val="100000"/>
              <a:buChar char="•"/>
            </a:pPr>
            <a:r>
              <a:rPr lang="en-US" sz="1400" dirty="0">
                <a:solidFill>
                  <a:schemeClr val="tx1"/>
                </a:solidFill>
              </a:rPr>
              <a:t>Ablation: coverage-only vs coverage plus tone</a:t>
            </a:r>
            <a:endParaRPr lang="en-US" sz="1400" dirty="0"/>
          </a:p>
          <a:p>
            <a:pPr marL="342900" indent="-342900">
              <a:spcAft>
                <a:spcPts val="800"/>
              </a:spcAft>
              <a:buSzPct val="100000"/>
              <a:buChar char="•"/>
            </a:pPr>
            <a:r>
              <a:rPr lang="en-US" sz="1400" dirty="0">
                <a:solidFill>
                  <a:schemeClr val="tx1"/>
                </a:solidFill>
              </a:rPr>
              <a:t>Negation-aware scoring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914400"/>
          </a:xfrm>
          <a:prstGeom prst="rect">
            <a:avLst/>
          </a:prstGeom>
          <a:noFill/>
          <a:ln/>
        </p:spPr>
        <p:txBody>
          <a:bodyPr wrap="square" rtlCol="0" anchor="ctr"/>
          <a:lstStyle/>
          <a:p>
            <a:pPr algn="l" indent="0" marL="0">
              <a:buNone/>
            </a:pPr>
            <a:r>
              <a:rPr lang="en-US" sz="3200" b="1" dirty="0">
                <a:solidFill>
                  <a:schemeClr val="bg1"/>
                </a:solidFill>
              </a:rPr>
              <a:t>A verified pipeline; an open question</a:t>
            </a:r>
            <a:endParaRPr lang="en-US" sz="3200" dirty="0"/>
          </a:p>
        </p:txBody>
      </p:sp>
      <p:sp>
        <p:nvSpPr>
          <p:cNvPr id="3" name="Text 0"/>
          <p:cNvSpPr/>
          <p:nvPr>
            <p:ph idx="101" type="body" hasCustomPrompt="1"/>
          </p:nvPr>
        </p:nvSpPr>
        <p:spPr>
          <a:xfrm>
            <a:off x="548640" y="2743200"/>
            <a:ext cx="8046720" cy="914400"/>
          </a:xfrm>
          <a:prstGeom prst="rect">
            <a:avLst/>
          </a:prstGeom>
          <a:noFill/>
          <a:ln/>
        </p:spPr>
        <p:txBody>
          <a:bodyPr wrap="square" rtlCol="0" anchor="t"/>
          <a:lstStyle/>
          <a:p>
            <a:pPr indent="0" marL="0">
              <a:buNone/>
            </a:pPr>
            <a:r>
              <a:rPr lang="en-US" sz="1600" dirty="0">
                <a:solidFill>
                  <a:schemeClr val="bg2"/>
                </a:solidFill>
              </a:rPr>
              <a:t>Financial data gives AUC ≈ 0.71–0.73. Sentiment's value remains untested at scale.</a:t>
            </a:r>
            <a:endParaRPr lang="en-US" sz="1600" dirty="0"/>
          </a:p>
          <a:p>
            <a:pPr indent="0" marL="0">
              <a:buNone/>
            </a:pPr>
            <a:r>
              <a:rPr lang="en-US" sz="1600" dirty="0">
                <a:solidFill>
                  <a:schemeClr val="bg2"/>
                </a:solidFill>
              </a:rPr>
              <a:t>Thank you. Questions?</a:t>
            </a:r>
            <a:endParaRPr lang="en-US" sz="1600" dirty="0"/>
          </a:p>
        </p:txBody>
      </p:sp>
    </p:spTree>
  </p:cSld>
  <p:clrMapOvr>
    <a:masterClrMapping/>
  </p:clrMapOvr>
</p:sld>
</file>

<file path=ppt/theme/theme1.xml><?xml version="1.0" encoding="utf-8"?>
<a:theme xmlns:a="http://schemas.openxmlformats.org/drawingml/2006/main" name="Startup Survival">
  <a:themeElements>
    <a:clrScheme name="Startup Survival">
      <a:dk1>
        <a:srgbClr val="1B2333"/>
      </a:dk1>
      <a:lt1>
        <a:srgbClr val="FFFFFF"/>
      </a:lt1>
      <a:dk2>
        <a:srgbClr val="142A3E"/>
      </a:dk2>
      <a:lt2>
        <a:srgbClr val="EEF2F6"/>
      </a:lt2>
      <a:accent1>
        <a:srgbClr val="1F9E74"/>
      </a:accent1>
      <a:accent2>
        <a:srgbClr val="E2574C"/>
      </a:accent2>
      <a:accent3>
        <a:srgbClr val="3D6A8F"/>
      </a:accent3>
      <a:accent4>
        <a:srgbClr val="F2B33D"/>
      </a:accent4>
      <a:accent5>
        <a:srgbClr val="8A97A8"/>
      </a:accent5>
      <a:accent6>
        <a:srgbClr val="5B4B8A"/>
      </a:accent6>
      <a:hlink>
        <a:srgbClr val="3D6A8F"/>
      </a:hlink>
      <a:folHlink>
        <a:srgbClr val="5B4B8A"/>
      </a:folHlink>
    </a:clrScheme>
    <a:fontScheme name="Startup Surviv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the Predictive Value of Public News Sentiment for Startup Survival</dc:title>
  <dc:subject>PptxGenJS Presentation</dc:subject>
  <dc:creator>B.Tech CSE Big Data Project Team</dc:creator>
  <cp:lastModifiedBy>B.Tech CSE Big Data Project Team</cp:lastModifiedBy>
  <cp:revision>1</cp:revision>
  <dcterms:created xsi:type="dcterms:W3CDTF">2026-10-26T09:30:55Z</dcterms:created>
  <dcterms:modified xsi:type="dcterms:W3CDTF">2026-10-26T09:30:55Z</dcterms:modified>
</cp:coreProperties>
</file>